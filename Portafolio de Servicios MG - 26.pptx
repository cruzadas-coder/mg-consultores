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4" r:id="rId1"/>
  </p:sldMasterIdLst>
  <p:notesMasterIdLst>
    <p:notesMasterId r:id="rId18"/>
  </p:notesMasterIdLst>
  <p:handoutMasterIdLst>
    <p:handoutMasterId r:id="rId19"/>
  </p:handoutMasterIdLst>
  <p:sldIdLst>
    <p:sldId id="256" r:id="rId2"/>
    <p:sldId id="257" r:id="rId3"/>
    <p:sldId id="281" r:id="rId4"/>
    <p:sldId id="280" r:id="rId5"/>
    <p:sldId id="258" r:id="rId6"/>
    <p:sldId id="276" r:id="rId7"/>
    <p:sldId id="274" r:id="rId8"/>
    <p:sldId id="265" r:id="rId9"/>
    <p:sldId id="262" r:id="rId10"/>
    <p:sldId id="264" r:id="rId11"/>
    <p:sldId id="270" r:id="rId12"/>
    <p:sldId id="277" r:id="rId13"/>
    <p:sldId id="279" r:id="rId14"/>
    <p:sldId id="272" r:id="rId15"/>
    <p:sldId id="275" r:id="rId16"/>
    <p:sldId id="267" r:id="rId17"/>
  </p:sldIdLst>
  <p:sldSz cx="9144000" cy="6858000" type="screen4x3"/>
  <p:notesSz cx="6858000" cy="931386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34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20101"/>
    <a:srgbClr val="0C0F7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86176" autoAdjust="0"/>
  </p:normalViewPr>
  <p:slideViewPr>
    <p:cSldViewPr snapToGrid="0" snapToObjects="1">
      <p:cViewPr varScale="1">
        <p:scale>
          <a:sx n="69" d="100"/>
          <a:sy n="69" d="100"/>
        </p:scale>
        <p:origin x="1416" y="72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66" d="100"/>
          <a:sy n="66" d="100"/>
        </p:scale>
        <p:origin x="-3632" y="-120"/>
      </p:cViewPr>
      <p:guideLst>
        <p:guide orient="horz" pos="2934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s-CO"/>
              <a:t>NIT- 901003378-0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3884614" y="0"/>
            <a:ext cx="2971800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695EA4-FE78-4E6C-8725-F96F8C4B9048}" type="datetime6">
              <a:rPr lang="es-ES" smtClean="0"/>
              <a:t>junio de 2026</a:t>
            </a:fld>
            <a:endParaRPr lang="es-CO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0" y="8847138"/>
            <a:ext cx="2971800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3884614" y="8847138"/>
            <a:ext cx="2971800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2E0DCB-C035-41FD-A7EF-ECB2BB809AF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74644361"/>
      </p:ext>
    </p:extLst>
  </p:cSld>
  <p:clrMap bg1="lt1" tx1="dk1" bg2="lt2" tx2="dk2" accent1="accent1" accent2="accent2" accent3="accent3" accent4="accent4" accent5="accent5" accent6="accent6" hlink="hlink" folHlink="folHlink"/>
  <p:hf sldNum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6569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s-ES"/>
              <a:t>NIT- 901003378-0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4" y="0"/>
            <a:ext cx="2971800" cy="46569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2B0EDC-596F-4AE0-83AD-485C0D6CDF41}" type="datetime6">
              <a:rPr lang="es-ES" smtClean="0"/>
              <a:t>junio de 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101725" y="700088"/>
            <a:ext cx="4654550" cy="34909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24086"/>
            <a:ext cx="5486400" cy="419123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846554"/>
            <a:ext cx="2971800" cy="46569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4" y="8846554"/>
            <a:ext cx="2971800" cy="46569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D9D6D2-D489-B649-B1A0-CD9B05F1A55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50698205"/>
      </p:ext>
    </p:extLst>
  </p:cSld>
  <p:clrMap bg1="lt1" tx1="dk1" bg2="lt2" tx2="dk2" accent1="accent1" accent2="accent2" accent3="accent3" accent4="accent4" accent5="accent5" accent6="accent6" hlink="hlink" folHlink="folHlink"/>
  <p:hf sldNum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encabezado 6"/>
          <p:cNvSpPr>
            <a:spLocks noGrp="1"/>
          </p:cNvSpPr>
          <p:nvPr>
            <p:ph type="hdr" sz="quarter" idx="13"/>
          </p:nvPr>
        </p:nvSpPr>
        <p:spPr/>
        <p:txBody>
          <a:bodyPr/>
          <a:lstStyle/>
          <a:p>
            <a:r>
              <a:rPr lang="es-ES"/>
              <a:t>NIT- 901003378-0</a:t>
            </a:r>
          </a:p>
        </p:txBody>
      </p:sp>
    </p:spTree>
    <p:extLst>
      <p:ext uri="{BB962C8B-B14F-4D97-AF65-F5344CB8AC3E}">
        <p14:creationId xmlns:p14="http://schemas.microsoft.com/office/powerpoint/2010/main" val="30744626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encabezado 6"/>
          <p:cNvSpPr>
            <a:spLocks noGrp="1"/>
          </p:cNvSpPr>
          <p:nvPr>
            <p:ph type="hdr" sz="quarter" idx="13"/>
          </p:nvPr>
        </p:nvSpPr>
        <p:spPr/>
        <p:txBody>
          <a:bodyPr/>
          <a:lstStyle/>
          <a:p>
            <a:r>
              <a:rPr lang="es-ES"/>
              <a:t>NIT- 901003378-0</a:t>
            </a:r>
          </a:p>
        </p:txBody>
      </p:sp>
    </p:spTree>
    <p:extLst>
      <p:ext uri="{BB962C8B-B14F-4D97-AF65-F5344CB8AC3E}">
        <p14:creationId xmlns:p14="http://schemas.microsoft.com/office/powerpoint/2010/main" val="3909094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encabezado 6"/>
          <p:cNvSpPr>
            <a:spLocks noGrp="1"/>
          </p:cNvSpPr>
          <p:nvPr>
            <p:ph type="hdr" sz="quarter" idx="13"/>
          </p:nvPr>
        </p:nvSpPr>
        <p:spPr/>
        <p:txBody>
          <a:bodyPr/>
          <a:lstStyle/>
          <a:p>
            <a:r>
              <a:rPr lang="es-ES"/>
              <a:t>NIT- 901003378-0</a:t>
            </a:r>
          </a:p>
        </p:txBody>
      </p:sp>
    </p:spTree>
    <p:extLst>
      <p:ext uri="{BB962C8B-B14F-4D97-AF65-F5344CB8AC3E}">
        <p14:creationId xmlns:p14="http://schemas.microsoft.com/office/powerpoint/2010/main" val="38557661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encabezado 6"/>
          <p:cNvSpPr>
            <a:spLocks noGrp="1"/>
          </p:cNvSpPr>
          <p:nvPr>
            <p:ph type="hdr" sz="quarter" idx="13"/>
          </p:nvPr>
        </p:nvSpPr>
        <p:spPr/>
        <p:txBody>
          <a:bodyPr/>
          <a:lstStyle/>
          <a:p>
            <a:r>
              <a:rPr lang="es-ES"/>
              <a:t>NIT- 901003378-0</a:t>
            </a:r>
          </a:p>
        </p:txBody>
      </p:sp>
    </p:spTree>
    <p:extLst>
      <p:ext uri="{BB962C8B-B14F-4D97-AF65-F5344CB8AC3E}">
        <p14:creationId xmlns:p14="http://schemas.microsoft.com/office/powerpoint/2010/main" val="3909094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encabezado 6"/>
          <p:cNvSpPr>
            <a:spLocks noGrp="1"/>
          </p:cNvSpPr>
          <p:nvPr>
            <p:ph type="hdr" sz="quarter" idx="13"/>
          </p:nvPr>
        </p:nvSpPr>
        <p:spPr/>
        <p:txBody>
          <a:bodyPr/>
          <a:lstStyle/>
          <a:p>
            <a:r>
              <a:rPr lang="es-ES"/>
              <a:t>NIT- 901003378-0</a:t>
            </a:r>
          </a:p>
        </p:txBody>
      </p:sp>
    </p:spTree>
    <p:extLst>
      <p:ext uri="{BB962C8B-B14F-4D97-AF65-F5344CB8AC3E}">
        <p14:creationId xmlns:p14="http://schemas.microsoft.com/office/powerpoint/2010/main" val="32152015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encabezado 6"/>
          <p:cNvSpPr>
            <a:spLocks noGrp="1"/>
          </p:cNvSpPr>
          <p:nvPr>
            <p:ph type="hdr" sz="quarter" idx="13"/>
          </p:nvPr>
        </p:nvSpPr>
        <p:spPr/>
        <p:txBody>
          <a:bodyPr/>
          <a:lstStyle/>
          <a:p>
            <a:r>
              <a:rPr lang="es-ES"/>
              <a:t>NIT- 901003378-0</a:t>
            </a:r>
          </a:p>
        </p:txBody>
      </p:sp>
    </p:spTree>
    <p:extLst>
      <p:ext uri="{BB962C8B-B14F-4D97-AF65-F5344CB8AC3E}">
        <p14:creationId xmlns:p14="http://schemas.microsoft.com/office/powerpoint/2010/main" val="23097741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encabezado 6"/>
          <p:cNvSpPr>
            <a:spLocks noGrp="1"/>
          </p:cNvSpPr>
          <p:nvPr>
            <p:ph type="hdr" sz="quarter" idx="13"/>
          </p:nvPr>
        </p:nvSpPr>
        <p:spPr/>
        <p:txBody>
          <a:bodyPr/>
          <a:lstStyle/>
          <a:p>
            <a:r>
              <a:rPr lang="es-ES"/>
              <a:t>NIT- 901003378-0</a:t>
            </a:r>
          </a:p>
        </p:txBody>
      </p:sp>
    </p:spTree>
    <p:extLst>
      <p:ext uri="{BB962C8B-B14F-4D97-AF65-F5344CB8AC3E}">
        <p14:creationId xmlns:p14="http://schemas.microsoft.com/office/powerpoint/2010/main" val="3909094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encabezado 6"/>
          <p:cNvSpPr>
            <a:spLocks noGrp="1"/>
          </p:cNvSpPr>
          <p:nvPr>
            <p:ph type="hdr" sz="quarter" idx="13"/>
          </p:nvPr>
        </p:nvSpPr>
        <p:spPr/>
        <p:txBody>
          <a:bodyPr/>
          <a:lstStyle/>
          <a:p>
            <a:r>
              <a:rPr lang="es-ES"/>
              <a:t>NIT- 901003378-0</a:t>
            </a:r>
          </a:p>
        </p:txBody>
      </p:sp>
    </p:spTree>
    <p:extLst>
      <p:ext uri="{BB962C8B-B14F-4D97-AF65-F5344CB8AC3E}">
        <p14:creationId xmlns:p14="http://schemas.microsoft.com/office/powerpoint/2010/main" val="39090948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encabezado 6"/>
          <p:cNvSpPr>
            <a:spLocks noGrp="1"/>
          </p:cNvSpPr>
          <p:nvPr>
            <p:ph type="hdr" sz="quarter" idx="13"/>
          </p:nvPr>
        </p:nvSpPr>
        <p:spPr/>
        <p:txBody>
          <a:bodyPr/>
          <a:lstStyle/>
          <a:p>
            <a:r>
              <a:rPr lang="es-ES"/>
              <a:t>NIT- 901003378-0</a:t>
            </a:r>
          </a:p>
        </p:txBody>
      </p:sp>
    </p:spTree>
    <p:extLst>
      <p:ext uri="{BB962C8B-B14F-4D97-AF65-F5344CB8AC3E}">
        <p14:creationId xmlns:p14="http://schemas.microsoft.com/office/powerpoint/2010/main" val="395299062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encabezado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s-ES"/>
              <a:t>NIT- 901003378-0</a:t>
            </a: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373240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199" y="1295400"/>
            <a:ext cx="8228013" cy="1927225"/>
          </a:xfrm>
        </p:spPr>
        <p:txBody>
          <a:bodyPr tIns="0" bIns="0" anchor="b" anchorCtr="0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s-ES_tradnl"/>
              <a:t>Clic para editar título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199" y="3307976"/>
            <a:ext cx="8228013" cy="1066800"/>
          </a:xfrm>
        </p:spPr>
        <p:txBody>
          <a:bodyPr tIns="0" bIns="0"/>
          <a:lstStyle>
            <a:lvl1pPr marL="0" indent="0" algn="ctr">
              <a:spcBef>
                <a:spcPts val="300"/>
              </a:spcBef>
              <a:buNone/>
              <a:defRPr sz="180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/>
              <a:t>Haga clic para modificar el estilo de subtítulo del patrón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BC7E7-EA8E-4DA7-915E-CC098D9BADCB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F5E10-5301-4EE6-90D2-A6C4A3F62BED}" type="slidenum">
              <a:rPr lang="en-US" smtClean="0"/>
              <a:t>‹Nº›</a:t>
            </a:fld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8292818" y="5804647"/>
            <a:ext cx="367088" cy="67710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sz="4400">
                <a:solidFill>
                  <a:schemeClr val="accent1"/>
                </a:solidFill>
                <a:latin typeface="Wingdings" pitchFamily="2" charset="2"/>
              </a:rPr>
              <a:t>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BC7E7-EA8E-4DA7-915E-CC098D9BADCB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F5E10-5301-4EE6-90D2-A6C4A3F62BED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36694"/>
            <a:ext cx="6400800" cy="1362075"/>
          </a:xfrm>
        </p:spPr>
        <p:txBody>
          <a:bodyPr anchor="b" anchorCtr="0"/>
          <a:lstStyle>
            <a:lvl1pPr algn="r">
              <a:defRPr sz="4600" b="0" cap="none" baseline="0"/>
            </a:lvl1pPr>
          </a:lstStyle>
          <a:p>
            <a:r>
              <a:rPr lang="es-ES_tradnl"/>
              <a:t>Clic para editar título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6399" y="3609695"/>
            <a:ext cx="5181601" cy="1500187"/>
          </a:xfrm>
        </p:spPr>
        <p:txBody>
          <a:bodyPr anchor="t" anchorCtr="0"/>
          <a:lstStyle>
            <a:lvl1pPr marL="0" indent="0" algn="r">
              <a:spcBef>
                <a:spcPts val="300"/>
              </a:spcBef>
              <a:buNone/>
              <a:defRPr sz="1800" baseline="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79BC7E7-EA8E-4DA7-915E-CC098D9BADCB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238999" y="6356350"/>
            <a:ext cx="144621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F2F5E10-5301-4EE6-90D2-A6C4A3F62BED}" type="slidenum">
              <a:rPr lang="en-US" smtClean="0"/>
              <a:t>‹Nº›</a:t>
            </a:fld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8292818" y="5804647"/>
            <a:ext cx="367088" cy="67710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sz="4400">
                <a:solidFill>
                  <a:schemeClr val="accent1"/>
                </a:solidFill>
                <a:latin typeface="Wingdings" pitchFamily="2" charset="2"/>
              </a:rPr>
              <a:t>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40664" y="2784475"/>
            <a:ext cx="3767328" cy="3252788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 marL="1946275" indent="-227013">
              <a:defRPr sz="1600"/>
            </a:lvl6pPr>
            <a:lvl7pPr marL="2173288" indent="-227013">
              <a:defRPr sz="1600"/>
            </a:lvl7pPr>
            <a:lvl8pPr marL="2398713" indent="-227013">
              <a:defRPr sz="1600"/>
            </a:lvl8pPr>
            <a:lvl9pPr marL="2625725" indent="-227013">
              <a:defRPr sz="16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34753" y="2784475"/>
            <a:ext cx="3767328" cy="3252788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 marL="1946275" indent="-227013">
              <a:tabLst/>
              <a:defRPr sz="1600"/>
            </a:lvl6pPr>
            <a:lvl7pPr marL="2173288" indent="-227013">
              <a:tabLst/>
              <a:defRPr sz="1600"/>
            </a:lvl7pPr>
            <a:lvl8pPr marL="2398713" indent="-227013">
              <a:tabLst/>
              <a:defRPr sz="1600"/>
            </a:lvl8pPr>
            <a:lvl9pPr marL="2625725" indent="-227013">
              <a:tabLst/>
              <a:defRPr sz="16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BC7E7-EA8E-4DA7-915E-CC098D9BADCB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F5E10-5301-4EE6-90D2-A6C4A3F62BED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_tradnl"/>
              <a:t>Clic para editar título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0664" y="2232211"/>
            <a:ext cx="3767328" cy="762000"/>
          </a:xfrm>
        </p:spPr>
        <p:txBody>
          <a:bodyPr anchor="b">
            <a:noAutofit/>
          </a:bodyPr>
          <a:lstStyle>
            <a:lvl1pPr marL="0" indent="0" algn="ctr">
              <a:lnSpc>
                <a:spcPts val="2600"/>
              </a:lnSpc>
              <a:spcBef>
                <a:spcPts val="0"/>
              </a:spcBef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0664" y="3160059"/>
            <a:ext cx="3767328" cy="289149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 marL="1946275" indent="-234950">
              <a:defRPr sz="1600"/>
            </a:lvl6pPr>
            <a:lvl7pPr marL="2173288" indent="-234950">
              <a:defRPr sz="1600"/>
            </a:lvl7pPr>
            <a:lvl8pPr marL="2398713" indent="-234950">
              <a:defRPr sz="1600"/>
            </a:lvl8pPr>
            <a:lvl9pPr marL="2625725" indent="-234950">
              <a:defRPr sz="16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31578" y="2232211"/>
            <a:ext cx="3767328" cy="762000"/>
          </a:xfrm>
        </p:spPr>
        <p:txBody>
          <a:bodyPr anchor="b">
            <a:noAutofit/>
          </a:bodyPr>
          <a:lstStyle>
            <a:lvl1pPr marL="0" indent="0" algn="ctr">
              <a:lnSpc>
                <a:spcPts val="2600"/>
              </a:lnSpc>
              <a:spcBef>
                <a:spcPts val="0"/>
              </a:spcBef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31578" y="3160059"/>
            <a:ext cx="3767328" cy="289149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 marL="1946275" indent="-234950">
              <a:defRPr sz="1600"/>
            </a:lvl6pPr>
            <a:lvl7pPr marL="2173288" indent="-234950">
              <a:defRPr sz="1600"/>
            </a:lvl7pPr>
            <a:lvl8pPr marL="2398713" indent="-234950">
              <a:defRPr sz="1600"/>
            </a:lvl8pPr>
            <a:lvl9pPr marL="2625725" indent="-234950">
              <a:defRPr sz="16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BC7E7-EA8E-4DA7-915E-CC098D9BADCB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F5E10-5301-4EE6-90D2-A6C4A3F62BED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objetos, superior e inferi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2000" y="2784475"/>
            <a:ext cx="7656512" cy="1554480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BC7E7-EA8E-4DA7-915E-CC098D9BADCB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F5E10-5301-4EE6-90D2-A6C4A3F62BED}" type="slidenum">
              <a:rPr lang="en-US" smtClean="0"/>
              <a:t>‹Nº›</a:t>
            </a:fld>
            <a:endParaRPr lang="en-US"/>
          </a:p>
        </p:txBody>
      </p:sp>
      <p:sp>
        <p:nvSpPr>
          <p:cNvPr id="8" name="Content Placeholder 2"/>
          <p:cNvSpPr>
            <a:spLocks noGrp="1"/>
          </p:cNvSpPr>
          <p:nvPr>
            <p:ph sz="half" idx="13"/>
          </p:nvPr>
        </p:nvSpPr>
        <p:spPr>
          <a:xfrm>
            <a:off x="762000" y="4497070"/>
            <a:ext cx="7656512" cy="1554480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36008" y="2784475"/>
            <a:ext cx="3767328" cy="1554480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 marL="1946275" indent="-227013">
              <a:defRPr sz="1600"/>
            </a:lvl6pPr>
            <a:lvl7pPr marL="2173288" indent="-227013">
              <a:defRPr sz="1600"/>
            </a:lvl7pPr>
            <a:lvl8pPr marL="2398713" indent="-227013">
              <a:defRPr sz="1600"/>
            </a:lvl8pPr>
            <a:lvl9pPr marL="2625725" indent="-227013">
              <a:defRPr sz="16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BC7E7-EA8E-4DA7-915E-CC098D9BADCB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F5E10-5301-4EE6-90D2-A6C4A3F62BED}" type="slidenum">
              <a:rPr lang="en-US" smtClean="0"/>
              <a:t>‹Nº›</a:t>
            </a:fld>
            <a:endParaRPr lang="en-US"/>
          </a:p>
        </p:txBody>
      </p:sp>
      <p:sp>
        <p:nvSpPr>
          <p:cNvPr id="8" name="Content Placeholder 2"/>
          <p:cNvSpPr>
            <a:spLocks noGrp="1"/>
          </p:cNvSpPr>
          <p:nvPr>
            <p:ph sz="half" idx="13"/>
          </p:nvPr>
        </p:nvSpPr>
        <p:spPr>
          <a:xfrm>
            <a:off x="4636008" y="4497070"/>
            <a:ext cx="3767328" cy="1554480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 marL="1946275" indent="-234950">
              <a:defRPr sz="1600"/>
            </a:lvl6pPr>
            <a:lvl7pPr marL="2173288" indent="-234950">
              <a:defRPr sz="1600"/>
            </a:lvl7pPr>
            <a:lvl8pPr marL="2398713" indent="-234950">
              <a:defRPr sz="1600"/>
            </a:lvl8pPr>
            <a:lvl9pPr marL="2625725" indent="-234950">
              <a:defRPr sz="16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dirty="0"/>
          </a:p>
        </p:txBody>
      </p:sp>
      <p:sp>
        <p:nvSpPr>
          <p:cNvPr id="9" name="Content Placeholder 2"/>
          <p:cNvSpPr>
            <a:spLocks noGrp="1"/>
          </p:cNvSpPr>
          <p:nvPr>
            <p:ph sz="half" idx="14"/>
          </p:nvPr>
        </p:nvSpPr>
        <p:spPr>
          <a:xfrm>
            <a:off x="740664" y="2784475"/>
            <a:ext cx="3767328" cy="3252788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 marL="1946275" indent="-234950">
              <a:defRPr sz="1600"/>
            </a:lvl6pPr>
            <a:lvl7pPr marL="2173288" indent="-234950">
              <a:defRPr sz="1600"/>
            </a:lvl7pPr>
            <a:lvl8pPr marL="2398713" indent="-234950">
              <a:defRPr sz="1600"/>
            </a:lvl8pPr>
            <a:lvl9pPr marL="2625725" indent="-234950">
              <a:defRPr sz="16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36008" y="2784475"/>
            <a:ext cx="3767328" cy="1554480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 marL="1946275" indent="-227013">
              <a:defRPr sz="1600"/>
            </a:lvl6pPr>
            <a:lvl7pPr marL="2173288" indent="-227013">
              <a:defRPr sz="1600"/>
            </a:lvl7pPr>
            <a:lvl8pPr marL="2398713" indent="-227013">
              <a:defRPr sz="1600"/>
            </a:lvl8pPr>
            <a:lvl9pPr marL="2625725" indent="-227013">
              <a:defRPr sz="16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BC7E7-EA8E-4DA7-915E-CC098D9BADCB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F5E10-5301-4EE6-90D2-A6C4A3F62BED}" type="slidenum">
              <a:rPr lang="en-US" smtClean="0"/>
              <a:t>‹Nº›</a:t>
            </a:fld>
            <a:endParaRPr lang="en-US"/>
          </a:p>
        </p:txBody>
      </p:sp>
      <p:sp>
        <p:nvSpPr>
          <p:cNvPr id="8" name="Content Placeholder 2"/>
          <p:cNvSpPr>
            <a:spLocks noGrp="1"/>
          </p:cNvSpPr>
          <p:nvPr>
            <p:ph sz="half" idx="13"/>
          </p:nvPr>
        </p:nvSpPr>
        <p:spPr>
          <a:xfrm>
            <a:off x="4636008" y="4497070"/>
            <a:ext cx="3767328" cy="1554480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 marL="1946275" indent="-234950" algn="l" defTabSz="914400" rtl="0" eaLnBrk="1" latinLnBrk="0" hangingPunct="1">
              <a:spcBef>
                <a:spcPct val="20000"/>
              </a:spcBef>
              <a:buSzPct val="90000"/>
              <a:buFont typeface="Wingdings" pitchFamily="2" charset="2"/>
              <a:buChar char=""/>
              <a:defRPr lang="en-US" sz="16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173288" indent="-234950" algn="l" defTabSz="914400" rtl="0" eaLnBrk="1" latinLnBrk="0" hangingPunct="1">
              <a:spcBef>
                <a:spcPct val="20000"/>
              </a:spcBef>
              <a:buSzPct val="90000"/>
              <a:buFont typeface="Wingdings" pitchFamily="2" charset="2"/>
              <a:buChar char=""/>
              <a:defRPr lang="en-US" sz="16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398713" indent="-234950" algn="l" defTabSz="914400" rtl="0" eaLnBrk="1" latinLnBrk="0" hangingPunct="1">
              <a:spcBef>
                <a:spcPct val="20000"/>
              </a:spcBef>
              <a:buSzPct val="90000"/>
              <a:buFont typeface="Wingdings" pitchFamily="2" charset="2"/>
              <a:buChar char=""/>
              <a:defRPr lang="en-US" sz="16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625725" indent="-234950" algn="l" defTabSz="914400" rtl="0" eaLnBrk="1" latinLnBrk="0" hangingPunct="1">
              <a:spcBef>
                <a:spcPct val="20000"/>
              </a:spcBef>
              <a:buSzPct val="90000"/>
              <a:buFont typeface="Wingdings" pitchFamily="2" charset="2"/>
              <a:buChar char=""/>
              <a:defRPr lang="en-US" sz="160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dirty="0"/>
          </a:p>
        </p:txBody>
      </p:sp>
      <p:sp>
        <p:nvSpPr>
          <p:cNvPr id="10" name="Content Placeholder 2"/>
          <p:cNvSpPr>
            <a:spLocks noGrp="1"/>
          </p:cNvSpPr>
          <p:nvPr>
            <p:ph sz="half" idx="14"/>
          </p:nvPr>
        </p:nvSpPr>
        <p:spPr>
          <a:xfrm>
            <a:off x="739775" y="2784475"/>
            <a:ext cx="3767328" cy="1554480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 marL="1946275" indent="-227013">
              <a:defRPr sz="1600"/>
            </a:lvl6pPr>
            <a:lvl7pPr marL="2173288" indent="-227013">
              <a:defRPr sz="1600"/>
            </a:lvl7pPr>
            <a:lvl8pPr marL="2398713" indent="-227013">
              <a:defRPr sz="1600"/>
            </a:lvl8pPr>
            <a:lvl9pPr marL="2625725" indent="-227013">
              <a:defRPr sz="16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dirty="0"/>
          </a:p>
        </p:txBody>
      </p:sp>
      <p:sp>
        <p:nvSpPr>
          <p:cNvPr id="11" name="Content Placeholder 2"/>
          <p:cNvSpPr>
            <a:spLocks noGrp="1"/>
          </p:cNvSpPr>
          <p:nvPr>
            <p:ph sz="half" idx="15"/>
          </p:nvPr>
        </p:nvSpPr>
        <p:spPr>
          <a:xfrm>
            <a:off x="739775" y="4497070"/>
            <a:ext cx="3767328" cy="1554480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 marL="1946275" indent="-234950" algn="l" defTabSz="914400" rtl="0" eaLnBrk="1" latinLnBrk="0" hangingPunct="1">
              <a:spcBef>
                <a:spcPct val="20000"/>
              </a:spcBef>
              <a:buSzPct val="90000"/>
              <a:buFont typeface="Wingdings" pitchFamily="2" charset="2"/>
              <a:buChar char=""/>
              <a:defRPr lang="en-US" sz="16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173288" indent="-234950" algn="l" defTabSz="914400" rtl="0" eaLnBrk="1" latinLnBrk="0" hangingPunct="1">
              <a:spcBef>
                <a:spcPct val="20000"/>
              </a:spcBef>
              <a:buSzPct val="90000"/>
              <a:buFont typeface="Wingdings" pitchFamily="2" charset="2"/>
              <a:buChar char=""/>
              <a:defRPr lang="en-US" sz="16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398713" indent="-234950" algn="l" defTabSz="914400" rtl="0" eaLnBrk="1" latinLnBrk="0" hangingPunct="1">
              <a:spcBef>
                <a:spcPct val="20000"/>
              </a:spcBef>
              <a:buSzPct val="90000"/>
              <a:buFont typeface="Wingdings" pitchFamily="2" charset="2"/>
              <a:buChar char=""/>
              <a:defRPr lang="en-US" sz="16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625725" indent="-234950" algn="l" defTabSz="914400" rtl="0" eaLnBrk="1" latinLnBrk="0" hangingPunct="1">
              <a:spcBef>
                <a:spcPct val="20000"/>
              </a:spcBef>
              <a:buSzPct val="90000"/>
              <a:buFont typeface="Wingdings" pitchFamily="2" charset="2"/>
              <a:buChar char=""/>
              <a:defRPr lang="en-US" sz="160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BC7E7-EA8E-4DA7-915E-CC098D9BADCB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F5E10-5301-4EE6-90D2-A6C4A3F62BED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BC7E7-EA8E-4DA7-915E-CC098D9BADCB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F5E10-5301-4EE6-90D2-A6C4A3F62BED}" type="slidenum">
              <a:rPr lang="en-US" smtClean="0"/>
              <a:t>‹Nº›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381001"/>
            <a:ext cx="3509683" cy="2209800"/>
          </a:xfrm>
        </p:spPr>
        <p:txBody>
          <a:bodyPr anchor="b"/>
          <a:lstStyle>
            <a:lvl1pPr algn="l">
              <a:defRPr sz="4400" b="0"/>
            </a:lvl1pPr>
          </a:lstStyle>
          <a:p>
            <a:r>
              <a:rPr lang="es-ES_tradnl"/>
              <a:t>Clic para editar título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29200" y="273050"/>
            <a:ext cx="3657600" cy="585311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 marL="1946275" indent="-227013">
              <a:defRPr sz="1600"/>
            </a:lvl6pPr>
            <a:lvl7pPr marL="2173288" indent="-227013">
              <a:defRPr sz="1600"/>
            </a:lvl7pPr>
            <a:lvl8pPr marL="2398713" indent="-227013">
              <a:defRPr sz="1600"/>
            </a:lvl8pPr>
            <a:lvl9pPr marL="2625725" indent="-227013">
              <a:defRPr sz="16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199" y="2649071"/>
            <a:ext cx="3509683" cy="3388192"/>
          </a:xfrm>
        </p:spPr>
        <p:txBody>
          <a:bodyPr>
            <a:normAutofit/>
          </a:bodyPr>
          <a:lstStyle>
            <a:lvl1pPr marL="0" indent="0">
              <a:spcBef>
                <a:spcPts val="600"/>
              </a:spcBef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79BC7E7-EA8E-4DA7-915E-CC098D9BADCB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F5E10-5301-4EE6-90D2-A6C4A3F62BED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con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51425" y="381001"/>
            <a:ext cx="3635375" cy="2209800"/>
          </a:xfrm>
        </p:spPr>
        <p:txBody>
          <a:bodyPr anchor="b"/>
          <a:lstStyle>
            <a:lvl1pPr algn="l">
              <a:defRPr sz="4400" b="0">
                <a:solidFill>
                  <a:schemeClr val="tx1"/>
                </a:solidFill>
              </a:defRPr>
            </a:lvl1pPr>
          </a:lstStyle>
          <a:p>
            <a:r>
              <a:rPr lang="es-ES_tradnl"/>
              <a:t>Clic para editar título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51425" y="2649070"/>
            <a:ext cx="3635375" cy="3505667"/>
          </a:xfrm>
        </p:spPr>
        <p:txBody>
          <a:bodyPr>
            <a:normAutofit/>
          </a:bodyPr>
          <a:lstStyle>
            <a:lvl1pPr marL="0" indent="0">
              <a:spcBef>
                <a:spcPts val="600"/>
              </a:spcBef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79BC7E7-EA8E-4DA7-915E-CC098D9BADCB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F5E10-5301-4EE6-90D2-A6C4A3F62BED}" type="slidenum">
              <a:rPr lang="en-US" smtClean="0"/>
              <a:t>‹Nº›</a:t>
            </a:fld>
            <a:endParaRPr lang="en-US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228600" y="1143000"/>
            <a:ext cx="4267200" cy="4267200"/>
          </a:xfrm>
          <a:prstGeom prst="ellipse">
            <a:avLst/>
          </a:prstGeom>
          <a:ln w="28575">
            <a:solidFill>
              <a:schemeClr val="accent1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s-ES_tradnl"/>
              <a:t>Arrastre la imagen al marcador de posición o haga clic en el icono para agregar</a:t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imágenes con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51425" y="381001"/>
            <a:ext cx="3635375" cy="2209800"/>
          </a:xfrm>
        </p:spPr>
        <p:txBody>
          <a:bodyPr anchor="b"/>
          <a:lstStyle>
            <a:lvl1pPr algn="l">
              <a:defRPr sz="4400" b="0">
                <a:solidFill>
                  <a:schemeClr val="tx1"/>
                </a:solidFill>
              </a:defRPr>
            </a:lvl1pPr>
          </a:lstStyle>
          <a:p>
            <a:r>
              <a:rPr lang="es-ES_tradnl"/>
              <a:t>Clic para editar título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51425" y="2649070"/>
            <a:ext cx="3635375" cy="3505667"/>
          </a:xfrm>
        </p:spPr>
        <p:txBody>
          <a:bodyPr>
            <a:normAutofit/>
          </a:bodyPr>
          <a:lstStyle>
            <a:lvl1pPr marL="0" indent="0">
              <a:spcBef>
                <a:spcPts val="600"/>
              </a:spcBef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79BC7E7-EA8E-4DA7-915E-CC098D9BADCB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F5E10-5301-4EE6-90D2-A6C4A3F62BED}" type="slidenum">
              <a:rPr lang="en-US" smtClean="0"/>
              <a:t>‹Nº›</a:t>
            </a:fld>
            <a:endParaRPr lang="en-US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990600" y="2590800"/>
            <a:ext cx="3505200" cy="3505200"/>
          </a:xfrm>
          <a:prstGeom prst="ellipse">
            <a:avLst/>
          </a:prstGeom>
          <a:ln w="28575">
            <a:solidFill>
              <a:schemeClr val="accent1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s-ES_tradnl"/>
              <a:t>Arrastre la imagen al marcador de posición o haga clic en el icono para agregar</a:t>
            </a:r>
            <a:endParaRPr/>
          </a:p>
        </p:txBody>
      </p:sp>
      <p:sp>
        <p:nvSpPr>
          <p:cNvPr id="8" name="Picture Placeholder 8"/>
          <p:cNvSpPr>
            <a:spLocks noGrp="1"/>
          </p:cNvSpPr>
          <p:nvPr>
            <p:ph type="pic" sz="quarter" idx="14"/>
          </p:nvPr>
        </p:nvSpPr>
        <p:spPr>
          <a:xfrm>
            <a:off x="2479675" y="1260475"/>
            <a:ext cx="1254125" cy="1254125"/>
          </a:xfrm>
          <a:prstGeom prst="ellipse">
            <a:avLst/>
          </a:prstGeom>
          <a:ln w="28575">
            <a:solidFill>
              <a:schemeClr val="accent1"/>
            </a:solidFill>
          </a:ln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es-ES_tradnl"/>
              <a:t>Arrastre la imagen al marcador de posición o haga clic en el icono para agregar</a:t>
            </a:r>
            <a:endParaRPr/>
          </a:p>
        </p:txBody>
      </p:sp>
      <p:sp>
        <p:nvSpPr>
          <p:cNvPr id="10" name="Picture Placeholder 8"/>
          <p:cNvSpPr>
            <a:spLocks noGrp="1"/>
          </p:cNvSpPr>
          <p:nvPr>
            <p:ph type="pic" sz="quarter" idx="15"/>
          </p:nvPr>
        </p:nvSpPr>
        <p:spPr>
          <a:xfrm>
            <a:off x="269875" y="762000"/>
            <a:ext cx="2092325" cy="2092325"/>
          </a:xfrm>
          <a:prstGeom prst="ellipse">
            <a:avLst/>
          </a:prstGeom>
          <a:ln w="28575">
            <a:solidFill>
              <a:schemeClr val="accent1"/>
            </a:solidFill>
          </a:ln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r>
              <a:rPr lang="es-ES_tradnl"/>
              <a:t>Arrastre la imagen al marcador de posición o haga clic en el icono para agregar</a:t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568388"/>
            <a:ext cx="8228013" cy="3468875"/>
          </a:xfrm>
        </p:spPr>
        <p:txBody>
          <a:bodyPr vert="eaVert"/>
          <a:lstStyle>
            <a:lvl5pPr>
              <a:defRPr/>
            </a:lvl5pPr>
            <a:lvl6pPr marL="1719072">
              <a:defRPr/>
            </a:lvl6pPr>
            <a:lvl7pPr marL="1719072">
              <a:defRPr/>
            </a:lvl7pPr>
            <a:lvl8pPr marL="1719072">
              <a:defRPr/>
            </a:lvl8pPr>
            <a:lvl9pPr marL="1719072">
              <a:defRPr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BC7E7-EA8E-4DA7-915E-CC098D9BADCB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F5E10-5301-4EE6-90D2-A6C4A3F62BED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6600" y="274638"/>
            <a:ext cx="1524000" cy="5851525"/>
          </a:xfrm>
        </p:spPr>
        <p:txBody>
          <a:bodyPr vert="eaVert" anchor="t" anchorCtr="0"/>
          <a:lstStyle/>
          <a:p>
            <a:r>
              <a:rPr lang="es-ES_tradnl"/>
              <a:t>Clic para editar título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416859"/>
            <a:ext cx="6019800" cy="5615642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BC7E7-EA8E-4DA7-915E-CC098D9BADCB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F5E10-5301-4EE6-90D2-A6C4A3F62BED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err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BC7E7-EA8E-4DA7-915E-CC098D9BADCB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F5E10-5301-4EE6-90D2-A6C4A3F62BED}" type="slidenum">
              <a:rPr lang="en-US" smtClean="0"/>
              <a:t>‹Nº›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45141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_tradnl"/>
              <a:t>Clic para editar título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9775" y="2770094"/>
            <a:ext cx="7662864" cy="32671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679BC7E7-EA8E-4DA7-915E-CC098D9BADCB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789613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305300" y="6356350"/>
            <a:ext cx="533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9F2F5E10-5301-4EE6-90D2-A6C4A3F62BED}" type="slidenum">
              <a:rPr lang="en-US" smtClean="0"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  <p:sldLayoutId id="2147483706" r:id="rId12"/>
    <p:sldLayoutId id="2147483707" r:id="rId13"/>
    <p:sldLayoutId id="2147483708" r:id="rId14"/>
    <p:sldLayoutId id="2147483709" r:id="rId15"/>
    <p:sldLayoutId id="2147483710" r:id="rId16"/>
  </p:sldLayoutIdLst>
  <p:txStyles>
    <p:titleStyle>
      <a:lvl1pPr algn="ctr" defTabSz="914400" rtl="0" eaLnBrk="1" latinLnBrk="0" hangingPunct="1">
        <a:spcBef>
          <a:spcPct val="0"/>
        </a:spcBef>
        <a:buNone/>
        <a:defRPr sz="46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ts val="2000"/>
        </a:spcBef>
        <a:buClr>
          <a:schemeClr val="accent1"/>
        </a:buClr>
        <a:buSzPct val="90000"/>
        <a:buFont typeface="Wingdings" pitchFamily="2" charset="2"/>
        <a:buChar char="S"/>
        <a:defRPr sz="22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336550" algn="l" defTabSz="914400" rtl="0" eaLnBrk="1" latinLnBrk="0" hangingPunct="1">
        <a:spcBef>
          <a:spcPts val="600"/>
        </a:spcBef>
        <a:buClr>
          <a:schemeClr val="accent1">
            <a:lumMod val="60000"/>
            <a:lumOff val="40000"/>
          </a:schemeClr>
        </a:buClr>
        <a:buSzPct val="90000"/>
        <a:buFont typeface="Wingdings" pitchFamily="2" charset="2"/>
        <a:buChar char="S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035050" indent="-349250" algn="l" defTabSz="914400" rtl="0" eaLnBrk="1" latinLnBrk="0" hangingPunct="1">
        <a:spcBef>
          <a:spcPts val="600"/>
        </a:spcBef>
        <a:buClr>
          <a:schemeClr val="accent1"/>
        </a:buClr>
        <a:buSzPct val="90000"/>
        <a:buFont typeface="Wingdings" pitchFamily="2" charset="2"/>
        <a:buChar char="S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371600" indent="-336550" algn="l" defTabSz="914400" rtl="0" eaLnBrk="1" latinLnBrk="0" hangingPunct="1">
        <a:spcBef>
          <a:spcPts val="600"/>
        </a:spcBef>
        <a:buClr>
          <a:schemeClr val="accent1">
            <a:lumMod val="60000"/>
            <a:lumOff val="40000"/>
          </a:schemeClr>
        </a:buClr>
        <a:buSzPct val="90000"/>
        <a:buFont typeface="Wingdings" pitchFamily="2" charset="2"/>
        <a:buChar char="S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720850" indent="-349250" algn="l" defTabSz="914400" rtl="0" eaLnBrk="1" latinLnBrk="0" hangingPunct="1">
        <a:spcBef>
          <a:spcPts val="600"/>
        </a:spcBef>
        <a:buClr>
          <a:schemeClr val="accent1"/>
        </a:buClr>
        <a:buSzPct val="90000"/>
        <a:buFont typeface="Wingdings" pitchFamily="2" charset="2"/>
        <a:buChar char="S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055813" indent="-344488" algn="l" defTabSz="9144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90000"/>
        <a:buFont typeface="Wingdings" pitchFamily="2" charset="2"/>
        <a:buChar char=""/>
        <a:defRPr lang="en-US" sz="18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398713" indent="-344488" algn="l" defTabSz="914400" rtl="0" eaLnBrk="1" latinLnBrk="0" hangingPunct="1">
        <a:spcBef>
          <a:spcPct val="20000"/>
        </a:spcBef>
        <a:buClr>
          <a:schemeClr val="accent1"/>
        </a:buClr>
        <a:buSzPct val="90000"/>
        <a:buFont typeface="Wingdings" pitchFamily="2" charset="2"/>
        <a:buChar char=""/>
        <a:defRPr lang="en-US" sz="18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2743200" indent="-344488" algn="l" defTabSz="9144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90000"/>
        <a:buFont typeface="Wingdings" pitchFamily="2" charset="2"/>
        <a:buChar char=""/>
        <a:defRPr lang="en-US" sz="18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087688" indent="-344488" algn="l" defTabSz="914400" rtl="0" eaLnBrk="1" latinLnBrk="0" hangingPunct="1">
        <a:spcBef>
          <a:spcPct val="20000"/>
        </a:spcBef>
        <a:buClr>
          <a:schemeClr val="accent1"/>
        </a:buClr>
        <a:buSzPct val="90000"/>
        <a:buFont typeface="Wingdings" pitchFamily="2" charset="2"/>
        <a:buChar char=""/>
        <a:defRPr lang="en-US" sz="1800" kern="1200" dirty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emf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0.emf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jpg"/><Relationship Id="rId3" Type="http://schemas.openxmlformats.org/officeDocument/2006/relationships/image" Target="../media/image2.jpeg"/><Relationship Id="rId7" Type="http://schemas.openxmlformats.org/officeDocument/2006/relationships/image" Target="../media/image17.jpg"/><Relationship Id="rId12" Type="http://schemas.openxmlformats.org/officeDocument/2006/relationships/image" Target="../media/image2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11" Type="http://schemas.openxmlformats.org/officeDocument/2006/relationships/image" Target="../media/image21.jp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0.emf"/><Relationship Id="rId9" Type="http://schemas.openxmlformats.org/officeDocument/2006/relationships/image" Target="../media/image19.jpg"/><Relationship Id="rId14" Type="http://schemas.openxmlformats.org/officeDocument/2006/relationships/image" Target="../media/image24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emf"/><Relationship Id="rId5" Type="http://schemas.microsoft.com/office/2007/relationships/hdphoto" Target="../media/hdphoto1.wdp"/><Relationship Id="rId4" Type="http://schemas.openxmlformats.org/officeDocument/2006/relationships/image" Target="../media/image2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emf"/><Relationship Id="rId5" Type="http://schemas.openxmlformats.org/officeDocument/2006/relationships/image" Target="../media/image29.jpeg"/><Relationship Id="rId4" Type="http://schemas.openxmlformats.org/officeDocument/2006/relationships/image" Target="../media/image28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emf"/><Relationship Id="rId4" Type="http://schemas.openxmlformats.org/officeDocument/2006/relationships/image" Target="../media/image3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emf"/><Relationship Id="rId5" Type="http://schemas.microsoft.com/office/2007/relationships/hdphoto" Target="../media/hdphoto2.wdp"/><Relationship Id="rId4" Type="http://schemas.openxmlformats.org/officeDocument/2006/relationships/image" Target="../media/image3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jpg"/><Relationship Id="rId3" Type="http://schemas.openxmlformats.org/officeDocument/2006/relationships/image" Target="../media/image2.jpeg"/><Relationship Id="rId7" Type="http://schemas.openxmlformats.org/officeDocument/2006/relationships/image" Target="../media/image35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jpg"/><Relationship Id="rId5" Type="http://schemas.microsoft.com/office/2007/relationships/hdphoto" Target="../media/hdphoto3.wdp"/><Relationship Id="rId4" Type="http://schemas.openxmlformats.org/officeDocument/2006/relationships/image" Target="../media/image3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7" Type="http://schemas.openxmlformats.org/officeDocument/2006/relationships/image" Target="../media/image30.emf"/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jpeg"/><Relationship Id="rId5" Type="http://schemas.openxmlformats.org/officeDocument/2006/relationships/image" Target="../media/image40.jpeg"/><Relationship Id="rId4" Type="http://schemas.openxmlformats.org/officeDocument/2006/relationships/image" Target="../media/image39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4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emf"/><Relationship Id="rId5" Type="http://schemas.microsoft.com/office/2007/relationships/hdphoto" Target="../media/hdphoto4.wdp"/><Relationship Id="rId4" Type="http://schemas.openxmlformats.org/officeDocument/2006/relationships/image" Target="../media/image4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g"/><Relationship Id="rId7" Type="http://schemas.openxmlformats.org/officeDocument/2006/relationships/image" Target="../media/image48.jpg"/><Relationship Id="rId2" Type="http://schemas.openxmlformats.org/officeDocument/2006/relationships/image" Target="../media/image30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jpg"/><Relationship Id="rId5" Type="http://schemas.openxmlformats.org/officeDocument/2006/relationships/image" Target="../media/image46.jpg"/><Relationship Id="rId4" Type="http://schemas.openxmlformats.org/officeDocument/2006/relationships/image" Target="../media/image45.jp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jpeg"/><Relationship Id="rId13" Type="http://schemas.openxmlformats.org/officeDocument/2006/relationships/image" Target="../media/image58.png"/><Relationship Id="rId18" Type="http://schemas.openxmlformats.org/officeDocument/2006/relationships/image" Target="../media/image63.png"/><Relationship Id="rId3" Type="http://schemas.openxmlformats.org/officeDocument/2006/relationships/image" Target="../media/image49.png"/><Relationship Id="rId7" Type="http://schemas.openxmlformats.org/officeDocument/2006/relationships/image" Target="../media/image53.gif"/><Relationship Id="rId12" Type="http://schemas.openxmlformats.org/officeDocument/2006/relationships/image" Target="../media/image57.png"/><Relationship Id="rId17" Type="http://schemas.openxmlformats.org/officeDocument/2006/relationships/image" Target="../media/image62.jpeg"/><Relationship Id="rId2" Type="http://schemas.openxmlformats.org/officeDocument/2006/relationships/image" Target="../media/image30.emf"/><Relationship Id="rId16" Type="http://schemas.openxmlformats.org/officeDocument/2006/relationships/image" Target="../media/image6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.png"/><Relationship Id="rId11" Type="http://schemas.openxmlformats.org/officeDocument/2006/relationships/image" Target="../media/image56.png"/><Relationship Id="rId5" Type="http://schemas.openxmlformats.org/officeDocument/2006/relationships/image" Target="../media/image51.png"/><Relationship Id="rId15" Type="http://schemas.openxmlformats.org/officeDocument/2006/relationships/image" Target="../media/image60.png"/><Relationship Id="rId10" Type="http://schemas.openxmlformats.org/officeDocument/2006/relationships/image" Target="../media/image55.wmf"/><Relationship Id="rId4" Type="http://schemas.openxmlformats.org/officeDocument/2006/relationships/image" Target="../media/image50.jpeg"/><Relationship Id="rId9" Type="http://schemas.openxmlformats.org/officeDocument/2006/relationships/oleObject" Target="../embeddings/oleObject1.bin"/><Relationship Id="rId14" Type="http://schemas.openxmlformats.org/officeDocument/2006/relationships/image" Target="../media/image5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30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5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emf"/><Relationship Id="rId3" Type="http://schemas.openxmlformats.org/officeDocument/2006/relationships/image" Target="../media/image66.png"/><Relationship Id="rId7" Type="http://schemas.openxmlformats.org/officeDocument/2006/relationships/hyperlink" Target="http://www.mgconsultoressas.com/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hyperlink" Target="mailto:comercial@mgconsultoressas.com" TargetMode="External"/><Relationship Id="rId5" Type="http://schemas.openxmlformats.org/officeDocument/2006/relationships/hyperlink" Target="mailto:gerencia@mgconsultoressas.com" TargetMode="External"/><Relationship Id="rId4" Type="http://schemas.microsoft.com/office/2007/relationships/hdphoto" Target="../media/hdphoto5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>
            <a:lum/>
          </a:blip>
          <a:srcRect/>
          <a:tile tx="44450" ty="-1536700" sx="95000" sy="100000" flip="xy" algn="t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378616" y="736029"/>
            <a:ext cx="8228013" cy="1927225"/>
          </a:xfrm>
        </p:spPr>
        <p:txBody>
          <a:bodyPr/>
          <a:lstStyle/>
          <a:p>
            <a:r>
              <a:rPr lang="es-E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MARTINEZ GONZALEZ </a:t>
            </a:r>
            <a:br>
              <a:rPr lang="es-E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CONSULTORES S.A.S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582611" y="3064035"/>
            <a:ext cx="8228013" cy="1066800"/>
          </a:xfrm>
        </p:spPr>
        <p:txBody>
          <a:bodyPr>
            <a:normAutofit/>
          </a:bodyPr>
          <a:lstStyle/>
          <a:p>
            <a:r>
              <a:rPr lang="es-E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PORTAFOLIO DE SERVICIOS </a:t>
            </a:r>
          </a:p>
          <a:p>
            <a:r>
              <a:rPr lang="es-E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Licencia en salud ocupacional 1033 de 2019</a:t>
            </a:r>
          </a:p>
        </p:txBody>
      </p:sp>
      <p:grpSp>
        <p:nvGrpSpPr>
          <p:cNvPr id="17" name="Agrupar 16"/>
          <p:cNvGrpSpPr/>
          <p:nvPr/>
        </p:nvGrpSpPr>
        <p:grpSpPr>
          <a:xfrm>
            <a:off x="1532041" y="3726144"/>
            <a:ext cx="6603999" cy="2810168"/>
            <a:chOff x="4648729" y="5494560"/>
            <a:chExt cx="6603999" cy="2810168"/>
          </a:xfrm>
        </p:grpSpPr>
        <p:pic>
          <p:nvPicPr>
            <p:cNvPr id="5" name="Imagen 4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686709" y="5494560"/>
              <a:ext cx="2253192" cy="1363440"/>
            </a:xfrm>
            <a:prstGeom prst="rect">
              <a:avLst/>
            </a:prstGeom>
          </p:spPr>
        </p:pic>
        <p:cxnSp>
          <p:nvCxnSpPr>
            <p:cNvPr id="9" name="Conector recto 8"/>
            <p:cNvCxnSpPr/>
            <p:nvPr/>
          </p:nvCxnSpPr>
          <p:spPr>
            <a:xfrm flipH="1">
              <a:off x="4648729" y="8304728"/>
              <a:ext cx="6603999" cy="0"/>
            </a:xfrm>
            <a:prstGeom prst="line">
              <a:avLst/>
            </a:prstGeom>
            <a:ln>
              <a:solidFill>
                <a:srgbClr val="0C0F7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ector recto 11"/>
            <p:cNvCxnSpPr/>
            <p:nvPr/>
          </p:nvCxnSpPr>
          <p:spPr>
            <a:xfrm flipH="1">
              <a:off x="4648729" y="8202411"/>
              <a:ext cx="6603999" cy="1"/>
            </a:xfrm>
            <a:prstGeom prst="line">
              <a:avLst/>
            </a:prstGeom>
            <a:ln>
              <a:solidFill>
                <a:srgbClr val="92010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6368262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4" dur="3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0"/>
                            </p:stCondLst>
                            <p:childTnLst>
                              <p:par>
                                <p:cTn id="26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8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3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tile tx="-247650" ty="-812800" sx="100000" sy="100000" flip="xy" algn="t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8" name="Picture 6" descr="Resultado de imagen para mision empresarial gif"/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773" y="1475611"/>
            <a:ext cx="7907339" cy="39138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828691" y="23373"/>
            <a:ext cx="2775934" cy="449870"/>
          </a:xfrm>
        </p:spPr>
        <p:txBody>
          <a:bodyPr/>
          <a:lstStyle/>
          <a:p>
            <a:r>
              <a:rPr lang="es-CO" sz="28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Quienes somos </a:t>
            </a:r>
            <a:endParaRPr lang="es-ES" sz="28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6" name="Conector recto 5"/>
          <p:cNvCxnSpPr/>
          <p:nvPr/>
        </p:nvCxnSpPr>
        <p:spPr>
          <a:xfrm flipH="1">
            <a:off x="2" y="6493242"/>
            <a:ext cx="7505698" cy="0"/>
          </a:xfrm>
          <a:prstGeom prst="line">
            <a:avLst/>
          </a:prstGeom>
          <a:ln>
            <a:solidFill>
              <a:srgbClr val="0C0F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ector recto 6"/>
          <p:cNvCxnSpPr/>
          <p:nvPr/>
        </p:nvCxnSpPr>
        <p:spPr>
          <a:xfrm flipH="1">
            <a:off x="0" y="6431580"/>
            <a:ext cx="7505696" cy="0"/>
          </a:xfrm>
          <a:prstGeom prst="line">
            <a:avLst/>
          </a:prstGeom>
          <a:ln>
            <a:solidFill>
              <a:srgbClr val="92010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CuadroTexto 18"/>
          <p:cNvSpPr txBox="1"/>
          <p:nvPr/>
        </p:nvSpPr>
        <p:spPr>
          <a:xfrm>
            <a:off x="215900" y="1727200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ES" dirty="0"/>
          </a:p>
        </p:txBody>
      </p:sp>
      <p:sp>
        <p:nvSpPr>
          <p:cNvPr id="20" name="CuadroTexto 19"/>
          <p:cNvSpPr txBox="1"/>
          <p:nvPr/>
        </p:nvSpPr>
        <p:spPr>
          <a:xfrm>
            <a:off x="-914400" y="1924566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ES" dirty="0"/>
          </a:p>
        </p:txBody>
      </p:sp>
      <p:pic>
        <p:nvPicPr>
          <p:cNvPr id="12" name="Imagen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05700" y="5741037"/>
            <a:ext cx="1449635" cy="877195"/>
          </a:xfrm>
          <a:prstGeom prst="rect">
            <a:avLst/>
          </a:prstGeom>
        </p:spPr>
      </p:pic>
      <p:sp>
        <p:nvSpPr>
          <p:cNvPr id="15" name="CuadroTexto 14">
            <a:extLst>
              <a:ext uri="{FF2B5EF4-FFF2-40B4-BE49-F238E27FC236}">
                <a16:creationId xmlns:a16="http://schemas.microsoft.com/office/drawing/2014/main" id="{F68F0FA0-53F4-4695-9767-D845895EA775}"/>
              </a:ext>
            </a:extLst>
          </p:cNvPr>
          <p:cNvSpPr txBox="1"/>
          <p:nvPr/>
        </p:nvSpPr>
        <p:spPr>
          <a:xfrm>
            <a:off x="2" y="591736"/>
            <a:ext cx="8928098" cy="6220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0980" indent="-6350" algn="just">
              <a:lnSpc>
                <a:spcPct val="97000"/>
              </a:lnSpc>
              <a:spcAft>
                <a:spcPts val="2155"/>
              </a:spcAft>
            </a:pPr>
            <a:r>
              <a:rPr lang="es-CO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MG Consultores S.A.S. es una empresa colombiana fundada en el año 2016, especializada en consultoría integral en sistemas de gestión de calidad, seguridad y salud en el trabajo, gestión ambiental y seguridad vial. A lo largo de nuestra trayectoria, hemos acompañado a organizaciones públicas y privadas en sectores de alto riesgo, consolidando una operación con cobertura nacional y un enfoque técnico y personalizado orientado a la mejora continua.</a:t>
            </a:r>
          </a:p>
          <a:p>
            <a:pPr marL="220980" indent="-6350" algn="just">
              <a:lnSpc>
                <a:spcPct val="97000"/>
              </a:lnSpc>
              <a:spcAft>
                <a:spcPts val="2155"/>
              </a:spcAft>
            </a:pPr>
            <a:r>
              <a:rPr lang="es-CO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Contamos con experiencia como contratistas de firmas principales en sectores estratégicos como la minería de carbón, donde hemos liderado procesos de implementación y mantenimiento del Sistema de Gestión de Seguridad y Salud en el Trabajo. Así mismo, hemos prestado servicios de seguimiento en calidad y SST a proyectos de la UPME, a través de contratistas interventoras en proyectos de inversionistas del sector energético como ISA-Inter-Colombia y EPSA (hoy Celsia).</a:t>
            </a:r>
            <a:endParaRPr lang="es-CO" sz="11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220980" indent="-6350" algn="just">
              <a:lnSpc>
                <a:spcPct val="97000"/>
              </a:lnSpc>
              <a:spcAft>
                <a:spcPts val="2155"/>
              </a:spcAft>
            </a:pPr>
            <a:r>
              <a:rPr lang="es-CO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Nuestro portafolio incluye también la atención a construcción civil, consultoría en ingeniera, manufactura, conjuntos de propiedad horizontal, instituciones educativas, oficinas de abogados, fondos de empleados y proyectos de consultoría ambiental. </a:t>
            </a:r>
          </a:p>
          <a:p>
            <a:pPr marL="220980" indent="-6350" algn="just">
              <a:lnSpc>
                <a:spcPct val="97000"/>
              </a:lnSpc>
              <a:spcAft>
                <a:spcPts val="2155"/>
              </a:spcAft>
            </a:pPr>
            <a:r>
              <a:rPr lang="es-CO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Esta diversidad nos permite ofrecer soluciones técnicas efectivas, con un equipo profesional altamente calificado y un firme compromiso con la calidad, la sostenibilidad y el cumplimiento normativo.</a:t>
            </a:r>
          </a:p>
          <a:p>
            <a:pPr marL="220980" indent="-6350">
              <a:lnSpc>
                <a:spcPct val="97000"/>
              </a:lnSpc>
              <a:spcAft>
                <a:spcPts val="2155"/>
              </a:spcAft>
            </a:pPr>
            <a:endParaRPr lang="es-CO" sz="11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32168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upo 3">
            <a:extLst>
              <a:ext uri="{FF2B5EF4-FFF2-40B4-BE49-F238E27FC236}">
                <a16:creationId xmlns:a16="http://schemas.microsoft.com/office/drawing/2014/main" id="{7B80205D-2694-430D-8D6B-7F8806F9948A}"/>
              </a:ext>
            </a:extLst>
          </p:cNvPr>
          <p:cNvGrpSpPr/>
          <p:nvPr/>
        </p:nvGrpSpPr>
        <p:grpSpPr>
          <a:xfrm>
            <a:off x="821506" y="4620491"/>
            <a:ext cx="7681097" cy="1467833"/>
            <a:chOff x="582610" y="4680431"/>
            <a:chExt cx="7681097" cy="1467833"/>
          </a:xfrm>
        </p:grpSpPr>
        <p:pic>
          <p:nvPicPr>
            <p:cNvPr id="5" name="Picture 69">
              <a:extLst>
                <a:ext uri="{FF2B5EF4-FFF2-40B4-BE49-F238E27FC236}">
                  <a16:creationId xmlns:a16="http://schemas.microsoft.com/office/drawing/2014/main" id="{59AF80B2-CC8E-481E-9420-A6C760B28B3F}"/>
                </a:ext>
              </a:extLst>
            </p:cNvPr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2980308" y="4680432"/>
              <a:ext cx="2638425" cy="1441539"/>
            </a:xfrm>
            <a:prstGeom prst="rect">
              <a:avLst/>
            </a:prstGeom>
          </p:spPr>
        </p:pic>
        <p:pic>
          <p:nvPicPr>
            <p:cNvPr id="6" name="Picture 75">
              <a:extLst>
                <a:ext uri="{FF2B5EF4-FFF2-40B4-BE49-F238E27FC236}">
                  <a16:creationId xmlns:a16="http://schemas.microsoft.com/office/drawing/2014/main" id="{BF6AB4A5-8D89-4061-AABD-CCF82F010CCA}"/>
                </a:ext>
              </a:extLst>
            </p:cNvPr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582610" y="4680432"/>
              <a:ext cx="2391148" cy="1467832"/>
            </a:xfrm>
            <a:prstGeom prst="rect">
              <a:avLst/>
            </a:prstGeom>
          </p:spPr>
        </p:pic>
        <p:pic>
          <p:nvPicPr>
            <p:cNvPr id="7" name="Picture 78">
              <a:extLst>
                <a:ext uri="{FF2B5EF4-FFF2-40B4-BE49-F238E27FC236}">
                  <a16:creationId xmlns:a16="http://schemas.microsoft.com/office/drawing/2014/main" id="{9C906EDC-6EE4-4A8F-BCBB-61ABD6E7D418}"/>
                </a:ext>
              </a:extLst>
            </p:cNvPr>
            <p:cNvPicPr/>
            <p:nvPr/>
          </p:nvPicPr>
          <p:blipFill>
            <a:blip r:embed="rId4"/>
            <a:stretch>
              <a:fillRect/>
            </a:stretch>
          </p:blipFill>
          <p:spPr>
            <a:xfrm>
              <a:off x="5625283" y="4680431"/>
              <a:ext cx="2638424" cy="1441539"/>
            </a:xfrm>
            <a:prstGeom prst="rect">
              <a:avLst/>
            </a:prstGeom>
          </p:spPr>
        </p:pic>
      </p:grpSp>
      <p:sp>
        <p:nvSpPr>
          <p:cNvPr id="9" name="CuadroTexto 8">
            <a:extLst>
              <a:ext uri="{FF2B5EF4-FFF2-40B4-BE49-F238E27FC236}">
                <a16:creationId xmlns:a16="http://schemas.microsoft.com/office/drawing/2014/main" id="{B813B9D8-2B9C-4BF8-9EED-AA0E87CC5CE0}"/>
              </a:ext>
            </a:extLst>
          </p:cNvPr>
          <p:cNvSpPr txBox="1"/>
          <p:nvPr/>
        </p:nvSpPr>
        <p:spPr>
          <a:xfrm>
            <a:off x="457201" y="1166843"/>
            <a:ext cx="8409708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MX" dirty="0"/>
              <a:t>Nuestra Trayectoria Visión 2030 Para el año 2030, seremos una de las principales empresas de consultoría en Colombia, reconocidos por nuestra excelencia técnica, calidad en el servicio e implementación de sistemas de gestión sostenibles. Nos comprometemos con el desarrollo de nuestros colaboradores y el bienestar de nuestros clientes, impulsando un impacto positivo en la sociedad.</a:t>
            </a:r>
          </a:p>
          <a:p>
            <a:pPr algn="just"/>
            <a:r>
              <a:rPr lang="es-MX" dirty="0"/>
              <a:t> </a:t>
            </a:r>
            <a:r>
              <a:rPr lang="es-MX" b="1" dirty="0"/>
              <a:t>Excelencia Técnica</a:t>
            </a:r>
          </a:p>
          <a:p>
            <a:pPr algn="just"/>
            <a:r>
              <a:rPr lang="es-MX" dirty="0"/>
              <a:t> Mantenernos a la vanguardia en conocimientos y metodologías. </a:t>
            </a:r>
          </a:p>
          <a:p>
            <a:pPr algn="just"/>
            <a:r>
              <a:rPr lang="es-MX" b="1" dirty="0"/>
              <a:t>Calidad de Servicio </a:t>
            </a:r>
          </a:p>
          <a:p>
            <a:pPr algn="just"/>
            <a:r>
              <a:rPr lang="es-MX" dirty="0"/>
              <a:t>Superar las expectativas del cliente en cada proyecto. </a:t>
            </a:r>
          </a:p>
          <a:p>
            <a:pPr algn="just"/>
            <a:r>
              <a:rPr lang="es-MX" b="1" dirty="0"/>
              <a:t>Sistemas Sostenibles </a:t>
            </a:r>
          </a:p>
          <a:p>
            <a:pPr algn="just"/>
            <a:r>
              <a:rPr lang="es-MX" dirty="0"/>
              <a:t>Promover soluciones que perduren y generen valor a largo plazo.</a:t>
            </a:r>
            <a:endParaRPr lang="es-CO" dirty="0"/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534E370C-5684-4433-BA9C-D5D8A0024494}"/>
              </a:ext>
            </a:extLst>
          </p:cNvPr>
          <p:cNvSpPr txBox="1">
            <a:spLocks/>
          </p:cNvSpPr>
          <p:nvPr/>
        </p:nvSpPr>
        <p:spPr>
          <a:xfrm>
            <a:off x="2918204" y="425035"/>
            <a:ext cx="2939425" cy="61402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6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28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VISIÓN</a:t>
            </a:r>
            <a:r>
              <a:rPr lang="es-CO" sz="2800" b="1" dirty="0">
                <a:solidFill>
                  <a:schemeClr val="tx1"/>
                </a:solidFill>
              </a:rPr>
              <a:t> </a:t>
            </a:r>
            <a:endParaRPr lang="es-ES_tradnl" sz="2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10760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tile tx="-247650" ty="-812800" sx="100000" sy="100000" flip="xy" algn="t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8" name="Picture 6" descr="Resultado de imagen para mision empresarial gif"/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773" y="1475611"/>
            <a:ext cx="7907339" cy="39138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527" y="964936"/>
            <a:ext cx="2775934" cy="762264"/>
          </a:xfrm>
        </p:spPr>
        <p:txBody>
          <a:bodyPr/>
          <a:lstStyle/>
          <a:p>
            <a:r>
              <a:rPr lang="es-CO" sz="28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MISIÓN </a:t>
            </a:r>
            <a:endParaRPr lang="es-ES" sz="28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215900" y="2381720"/>
            <a:ext cx="8559561" cy="1411139"/>
          </a:xfr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fontAlgn="base">
              <a:buNone/>
            </a:pPr>
            <a:r>
              <a:rPr lang="es-CO" sz="18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En MG Consultores S.A.S., ofrecemos consultoría estratégica en sistemas de gestión de calidad, seguridad y salud en el trabajo, gestión ambiental, seguridad vial y diversas ramas de la ingeniería. Nuestro propósito es satisfacer integralmente las necesidades de nuestros clientes con soluciones innovadoras y sostenibles.</a:t>
            </a:r>
            <a:endParaRPr lang="es-ES_tradnl" sz="1400" dirty="0">
              <a:solidFill>
                <a:schemeClr val="tx1"/>
              </a:solidFill>
            </a:endParaRPr>
          </a:p>
          <a:p>
            <a:pPr algn="just"/>
            <a:endParaRPr lang="es-ES" sz="1400" dirty="0">
              <a:solidFill>
                <a:schemeClr val="tx1"/>
              </a:solidFill>
            </a:endParaRPr>
          </a:p>
        </p:txBody>
      </p:sp>
      <p:cxnSp>
        <p:nvCxnSpPr>
          <p:cNvPr id="6" name="Conector recto 5"/>
          <p:cNvCxnSpPr/>
          <p:nvPr/>
        </p:nvCxnSpPr>
        <p:spPr>
          <a:xfrm flipH="1">
            <a:off x="2" y="6493242"/>
            <a:ext cx="7505698" cy="0"/>
          </a:xfrm>
          <a:prstGeom prst="line">
            <a:avLst/>
          </a:prstGeom>
          <a:ln>
            <a:solidFill>
              <a:srgbClr val="0C0F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ector recto 6"/>
          <p:cNvCxnSpPr/>
          <p:nvPr/>
        </p:nvCxnSpPr>
        <p:spPr>
          <a:xfrm flipH="1">
            <a:off x="0" y="6431580"/>
            <a:ext cx="7505696" cy="0"/>
          </a:xfrm>
          <a:prstGeom prst="line">
            <a:avLst/>
          </a:prstGeom>
          <a:ln>
            <a:solidFill>
              <a:srgbClr val="92010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CuadroTexto 18"/>
          <p:cNvSpPr txBox="1"/>
          <p:nvPr/>
        </p:nvSpPr>
        <p:spPr>
          <a:xfrm>
            <a:off x="215900" y="1727200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ES" dirty="0"/>
          </a:p>
        </p:txBody>
      </p:sp>
      <p:sp>
        <p:nvSpPr>
          <p:cNvPr id="20" name="CuadroTexto 19"/>
          <p:cNvSpPr txBox="1"/>
          <p:nvPr/>
        </p:nvSpPr>
        <p:spPr>
          <a:xfrm>
            <a:off x="-914400" y="1924566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ES" dirty="0"/>
          </a:p>
        </p:txBody>
      </p:sp>
      <p:pic>
        <p:nvPicPr>
          <p:cNvPr id="12" name="Imagen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05700" y="5741037"/>
            <a:ext cx="1449635" cy="877195"/>
          </a:xfrm>
          <a:prstGeom prst="rect">
            <a:avLst/>
          </a:prstGeom>
        </p:spPr>
      </p:pic>
      <p:sp>
        <p:nvSpPr>
          <p:cNvPr id="8" name="Rectangle 5">
            <a:extLst>
              <a:ext uri="{FF2B5EF4-FFF2-40B4-BE49-F238E27FC236}">
                <a16:creationId xmlns:a16="http://schemas.microsoft.com/office/drawing/2014/main" id="{B9901F17-F84E-4CE9-9A64-E02F9AC737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CO"/>
          </a:p>
        </p:txBody>
      </p:sp>
      <p:pic>
        <p:nvPicPr>
          <p:cNvPr id="3076" name="Picture 131">
            <a:extLst>
              <a:ext uri="{FF2B5EF4-FFF2-40B4-BE49-F238E27FC236}">
                <a16:creationId xmlns:a16="http://schemas.microsoft.com/office/drawing/2014/main" id="{BCA73961-AF09-4378-9832-4EC9CEF018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09525" y="7181850"/>
            <a:ext cx="1920875" cy="1504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9098721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tile tx="-247650" ty="-812800" sx="100000" sy="100000" flip="xy" algn="t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Conector recto 5"/>
          <p:cNvCxnSpPr/>
          <p:nvPr/>
        </p:nvCxnSpPr>
        <p:spPr>
          <a:xfrm flipH="1">
            <a:off x="2" y="6553202"/>
            <a:ext cx="7505698" cy="0"/>
          </a:xfrm>
          <a:prstGeom prst="line">
            <a:avLst/>
          </a:prstGeom>
          <a:ln>
            <a:solidFill>
              <a:srgbClr val="0C0F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ector recto 6"/>
          <p:cNvCxnSpPr/>
          <p:nvPr/>
        </p:nvCxnSpPr>
        <p:spPr>
          <a:xfrm flipH="1">
            <a:off x="4" y="6502401"/>
            <a:ext cx="7505696" cy="0"/>
          </a:xfrm>
          <a:prstGeom prst="line">
            <a:avLst/>
          </a:prstGeom>
          <a:ln>
            <a:solidFill>
              <a:srgbClr val="92010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CuadroTexto 18"/>
          <p:cNvSpPr txBox="1"/>
          <p:nvPr/>
        </p:nvSpPr>
        <p:spPr>
          <a:xfrm>
            <a:off x="215900" y="1727200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ES" dirty="0"/>
          </a:p>
        </p:txBody>
      </p:sp>
      <p:sp>
        <p:nvSpPr>
          <p:cNvPr id="20" name="CuadroTexto 19"/>
          <p:cNvSpPr txBox="1"/>
          <p:nvPr/>
        </p:nvSpPr>
        <p:spPr>
          <a:xfrm>
            <a:off x="-914400" y="1924566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ES" dirty="0"/>
          </a:p>
        </p:txBody>
      </p:sp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216105" y="522605"/>
            <a:ext cx="8711789" cy="692238"/>
          </a:xfrm>
        </p:spPr>
        <p:txBody>
          <a:bodyPr/>
          <a:lstStyle/>
          <a:p>
            <a:pPr algn="l"/>
            <a:r>
              <a:rPr lang="es-MX" sz="2800" dirty="0">
                <a:solidFill>
                  <a:schemeClr val="tx1"/>
                </a:solidFill>
              </a:rPr>
              <a:t>Bienestar y Seguridad </a:t>
            </a:r>
            <a:br>
              <a:rPr lang="es-MX" sz="2800" dirty="0">
                <a:solidFill>
                  <a:schemeClr val="tx1"/>
                </a:solidFill>
              </a:rPr>
            </a:br>
            <a:r>
              <a:rPr lang="es-MX" sz="2800" dirty="0">
                <a:solidFill>
                  <a:schemeClr val="tx1"/>
                </a:solidFill>
              </a:rPr>
              <a:t>Servicios de Seguridad y Salud en el Trabajo (SG-SST</a:t>
            </a:r>
            <a:r>
              <a:rPr lang="es-MX" sz="1050" dirty="0"/>
              <a:t>)</a:t>
            </a:r>
            <a:endParaRPr lang="es-ES" sz="2800" dirty="0">
              <a:solidFill>
                <a:schemeClr val="tx1"/>
              </a:solidFill>
            </a:endParaRPr>
          </a:p>
        </p:txBody>
      </p:sp>
      <p:pic>
        <p:nvPicPr>
          <p:cNvPr id="10" name="Imagen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70387" y="5808372"/>
            <a:ext cx="1449635" cy="877195"/>
          </a:xfrm>
          <a:prstGeom prst="rect">
            <a:avLst/>
          </a:prstGeom>
        </p:spPr>
      </p:pic>
      <p:grpSp>
        <p:nvGrpSpPr>
          <p:cNvPr id="9" name="Group 2781">
            <a:extLst>
              <a:ext uri="{FF2B5EF4-FFF2-40B4-BE49-F238E27FC236}">
                <a16:creationId xmlns:a16="http://schemas.microsoft.com/office/drawing/2014/main" id="{1A65B6B3-318F-40B9-803D-51DCECA8C87C}"/>
              </a:ext>
            </a:extLst>
          </p:cNvPr>
          <p:cNvGrpSpPr/>
          <p:nvPr/>
        </p:nvGrpSpPr>
        <p:grpSpPr>
          <a:xfrm>
            <a:off x="199933" y="1882649"/>
            <a:ext cx="6664325" cy="1236980"/>
            <a:chOff x="0" y="0"/>
            <a:chExt cx="6664882" cy="1237535"/>
          </a:xfrm>
        </p:grpSpPr>
        <p:sp>
          <p:nvSpPr>
            <p:cNvPr id="11" name="Shape 153">
              <a:extLst>
                <a:ext uri="{FF2B5EF4-FFF2-40B4-BE49-F238E27FC236}">
                  <a16:creationId xmlns:a16="http://schemas.microsoft.com/office/drawing/2014/main" id="{DF70D0DF-6E83-4CF2-9F4F-8DD944C2DB89}"/>
                </a:ext>
              </a:extLst>
            </p:cNvPr>
            <p:cNvSpPr/>
            <p:nvPr/>
          </p:nvSpPr>
          <p:spPr>
            <a:xfrm>
              <a:off x="15240" y="0"/>
              <a:ext cx="6649642" cy="1237535"/>
            </a:xfrm>
            <a:custGeom>
              <a:avLst/>
              <a:gdLst/>
              <a:ahLst/>
              <a:cxnLst/>
              <a:rect l="0" t="0" r="0" b="0"/>
              <a:pathLst>
                <a:path w="6649642" h="1237535">
                  <a:moveTo>
                    <a:pt x="0" y="82321"/>
                  </a:moveTo>
                  <a:cubicBezTo>
                    <a:pt x="0" y="36856"/>
                    <a:pt x="36856" y="0"/>
                    <a:pt x="82321" y="0"/>
                  </a:cubicBezTo>
                  <a:lnTo>
                    <a:pt x="6567320" y="0"/>
                  </a:lnTo>
                  <a:cubicBezTo>
                    <a:pt x="6612785" y="0"/>
                    <a:pt x="6649642" y="36856"/>
                    <a:pt x="6649642" y="82321"/>
                  </a:cubicBezTo>
                  <a:lnTo>
                    <a:pt x="6649642" y="1155214"/>
                  </a:lnTo>
                  <a:cubicBezTo>
                    <a:pt x="6649642" y="1200679"/>
                    <a:pt x="6612785" y="1237535"/>
                    <a:pt x="6567320" y="1237535"/>
                  </a:cubicBezTo>
                  <a:lnTo>
                    <a:pt x="82321" y="1237535"/>
                  </a:lnTo>
                  <a:cubicBezTo>
                    <a:pt x="36856" y="1237535"/>
                    <a:pt x="0" y="1200679"/>
                    <a:pt x="0" y="1155214"/>
                  </a:cubicBezTo>
                  <a:close/>
                </a:path>
              </a:pathLst>
            </a:custGeom>
            <a:ln w="15240" cap="flat">
              <a:round/>
            </a:ln>
          </p:spPr>
          <p:style>
            <a:lnRef idx="1">
              <a:srgbClr val="313E80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s-CO"/>
            </a:p>
          </p:txBody>
        </p:sp>
        <p:sp>
          <p:nvSpPr>
            <p:cNvPr id="12" name="Shape 154">
              <a:extLst>
                <a:ext uri="{FF2B5EF4-FFF2-40B4-BE49-F238E27FC236}">
                  <a16:creationId xmlns:a16="http://schemas.microsoft.com/office/drawing/2014/main" id="{B794F87D-E840-4895-8AFA-20A6058EDBC0}"/>
                </a:ext>
              </a:extLst>
            </p:cNvPr>
            <p:cNvSpPr/>
            <p:nvPr/>
          </p:nvSpPr>
          <p:spPr>
            <a:xfrm>
              <a:off x="0" y="1"/>
              <a:ext cx="60960" cy="1099781"/>
            </a:xfrm>
            <a:custGeom>
              <a:avLst/>
              <a:gdLst/>
              <a:ahLst/>
              <a:cxnLst/>
              <a:rect l="0" t="0" r="0" b="0"/>
              <a:pathLst>
                <a:path w="60960" h="1099781">
                  <a:moveTo>
                    <a:pt x="30480" y="0"/>
                  </a:moveTo>
                  <a:cubicBezTo>
                    <a:pt x="47314" y="0"/>
                    <a:pt x="60960" y="13646"/>
                    <a:pt x="60960" y="30480"/>
                  </a:cubicBezTo>
                  <a:lnTo>
                    <a:pt x="60960" y="1069301"/>
                  </a:lnTo>
                  <a:cubicBezTo>
                    <a:pt x="60960" y="1086133"/>
                    <a:pt x="47314" y="1099781"/>
                    <a:pt x="30480" y="1099781"/>
                  </a:cubicBezTo>
                  <a:cubicBezTo>
                    <a:pt x="13646" y="1099781"/>
                    <a:pt x="0" y="1086133"/>
                    <a:pt x="0" y="1069301"/>
                  </a:cubicBezTo>
                  <a:lnTo>
                    <a:pt x="0" y="30480"/>
                  </a:lnTo>
                  <a:cubicBezTo>
                    <a:pt x="0" y="13646"/>
                    <a:pt x="13646" y="0"/>
                    <a:pt x="30480" y="0"/>
                  </a:cubicBezTo>
                  <a:close/>
                </a:path>
              </a:pathLst>
            </a:custGeom>
            <a:ln w="0" cap="flat">
              <a:round/>
            </a:ln>
          </p:spPr>
          <p:style>
            <a:lnRef idx="0">
              <a:srgbClr val="000000">
                <a:alpha val="0"/>
              </a:srgbClr>
            </a:lnRef>
            <a:fillRef idx="1">
              <a:srgbClr val="5A6ED7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s-CO"/>
            </a:p>
          </p:txBody>
        </p:sp>
      </p:grpSp>
      <p:pic>
        <p:nvPicPr>
          <p:cNvPr id="4097" name="Picture 197">
            <a:extLst>
              <a:ext uri="{FF2B5EF4-FFF2-40B4-BE49-F238E27FC236}">
                <a16:creationId xmlns:a16="http://schemas.microsoft.com/office/drawing/2014/main" id="{BDE7CBF1-C650-4994-AF4B-B95C1F705F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20663" y="7345363"/>
            <a:ext cx="1709737" cy="13414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5">
            <a:extLst>
              <a:ext uri="{FF2B5EF4-FFF2-40B4-BE49-F238E27FC236}">
                <a16:creationId xmlns:a16="http://schemas.microsoft.com/office/drawing/2014/main" id="{1005939A-32E5-4F24-9500-6E51328963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7810" y="3551747"/>
            <a:ext cx="2448106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Registro RUC y Planes HSE</a:t>
            </a:r>
            <a:endParaRPr kumimoji="0" lang="es-CO" altLang="es-CO" sz="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CO" altLang="es-CO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1A6FE66F-A6FF-4C96-A70A-A255AE903F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6377" y="4025321"/>
            <a:ext cx="669480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Apoyo en auditorias RUC para contratistas y elaboración de planes HSE para sectores como hidrocarburos, construcción e industria.</a:t>
            </a:r>
            <a:endParaRPr kumimoji="0" lang="es-CO" altLang="es-CO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grpSp>
        <p:nvGrpSpPr>
          <p:cNvPr id="15" name="Group 2781">
            <a:extLst>
              <a:ext uri="{FF2B5EF4-FFF2-40B4-BE49-F238E27FC236}">
                <a16:creationId xmlns:a16="http://schemas.microsoft.com/office/drawing/2014/main" id="{7117205F-CE01-454F-B03B-08926CA132A2}"/>
              </a:ext>
            </a:extLst>
          </p:cNvPr>
          <p:cNvGrpSpPr/>
          <p:nvPr/>
        </p:nvGrpSpPr>
        <p:grpSpPr>
          <a:xfrm>
            <a:off x="276855" y="3574035"/>
            <a:ext cx="6664325" cy="1236980"/>
            <a:chOff x="0" y="0"/>
            <a:chExt cx="6664882" cy="1237535"/>
          </a:xfrm>
        </p:grpSpPr>
        <p:sp>
          <p:nvSpPr>
            <p:cNvPr id="16" name="Shape 153">
              <a:extLst>
                <a:ext uri="{FF2B5EF4-FFF2-40B4-BE49-F238E27FC236}">
                  <a16:creationId xmlns:a16="http://schemas.microsoft.com/office/drawing/2014/main" id="{4393FEFE-A74F-4DAC-AC51-5B75BF2EFF38}"/>
                </a:ext>
              </a:extLst>
            </p:cNvPr>
            <p:cNvSpPr/>
            <p:nvPr/>
          </p:nvSpPr>
          <p:spPr>
            <a:xfrm>
              <a:off x="15240" y="0"/>
              <a:ext cx="6649642" cy="1237535"/>
            </a:xfrm>
            <a:custGeom>
              <a:avLst/>
              <a:gdLst/>
              <a:ahLst/>
              <a:cxnLst/>
              <a:rect l="0" t="0" r="0" b="0"/>
              <a:pathLst>
                <a:path w="6649642" h="1237535">
                  <a:moveTo>
                    <a:pt x="0" y="82321"/>
                  </a:moveTo>
                  <a:cubicBezTo>
                    <a:pt x="0" y="36856"/>
                    <a:pt x="36856" y="0"/>
                    <a:pt x="82321" y="0"/>
                  </a:cubicBezTo>
                  <a:lnTo>
                    <a:pt x="6567320" y="0"/>
                  </a:lnTo>
                  <a:cubicBezTo>
                    <a:pt x="6612785" y="0"/>
                    <a:pt x="6649642" y="36856"/>
                    <a:pt x="6649642" y="82321"/>
                  </a:cubicBezTo>
                  <a:lnTo>
                    <a:pt x="6649642" y="1155214"/>
                  </a:lnTo>
                  <a:cubicBezTo>
                    <a:pt x="6649642" y="1200679"/>
                    <a:pt x="6612785" y="1237535"/>
                    <a:pt x="6567320" y="1237535"/>
                  </a:cubicBezTo>
                  <a:lnTo>
                    <a:pt x="82321" y="1237535"/>
                  </a:lnTo>
                  <a:cubicBezTo>
                    <a:pt x="36856" y="1237535"/>
                    <a:pt x="0" y="1200679"/>
                    <a:pt x="0" y="1155214"/>
                  </a:cubicBezTo>
                  <a:close/>
                </a:path>
              </a:pathLst>
            </a:custGeom>
            <a:ln w="15240" cap="flat">
              <a:round/>
            </a:ln>
          </p:spPr>
          <p:style>
            <a:lnRef idx="1">
              <a:srgbClr val="313E80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s-CO"/>
            </a:p>
          </p:txBody>
        </p:sp>
        <p:sp>
          <p:nvSpPr>
            <p:cNvPr id="17" name="Shape 154">
              <a:extLst>
                <a:ext uri="{FF2B5EF4-FFF2-40B4-BE49-F238E27FC236}">
                  <a16:creationId xmlns:a16="http://schemas.microsoft.com/office/drawing/2014/main" id="{C6BBC782-F1AF-4F6A-B380-221FC5257930}"/>
                </a:ext>
              </a:extLst>
            </p:cNvPr>
            <p:cNvSpPr/>
            <p:nvPr/>
          </p:nvSpPr>
          <p:spPr>
            <a:xfrm>
              <a:off x="0" y="1"/>
              <a:ext cx="60960" cy="1099781"/>
            </a:xfrm>
            <a:custGeom>
              <a:avLst/>
              <a:gdLst/>
              <a:ahLst/>
              <a:cxnLst/>
              <a:rect l="0" t="0" r="0" b="0"/>
              <a:pathLst>
                <a:path w="60960" h="1099781">
                  <a:moveTo>
                    <a:pt x="30480" y="0"/>
                  </a:moveTo>
                  <a:cubicBezTo>
                    <a:pt x="47314" y="0"/>
                    <a:pt x="60960" y="13646"/>
                    <a:pt x="60960" y="30480"/>
                  </a:cubicBezTo>
                  <a:lnTo>
                    <a:pt x="60960" y="1069301"/>
                  </a:lnTo>
                  <a:cubicBezTo>
                    <a:pt x="60960" y="1086133"/>
                    <a:pt x="47314" y="1099781"/>
                    <a:pt x="30480" y="1099781"/>
                  </a:cubicBezTo>
                  <a:cubicBezTo>
                    <a:pt x="13646" y="1099781"/>
                    <a:pt x="0" y="1086133"/>
                    <a:pt x="0" y="1069301"/>
                  </a:cubicBezTo>
                  <a:lnTo>
                    <a:pt x="0" y="30480"/>
                  </a:lnTo>
                  <a:cubicBezTo>
                    <a:pt x="0" y="13646"/>
                    <a:pt x="13646" y="0"/>
                    <a:pt x="30480" y="0"/>
                  </a:cubicBezTo>
                  <a:close/>
                </a:path>
              </a:pathLst>
            </a:custGeom>
            <a:ln w="0" cap="flat">
              <a:round/>
            </a:ln>
          </p:spPr>
          <p:style>
            <a:lnRef idx="0">
              <a:srgbClr val="000000">
                <a:alpha val="0"/>
              </a:srgbClr>
            </a:lnRef>
            <a:fillRef idx="1">
              <a:srgbClr val="5A6ED7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s-CO"/>
            </a:p>
          </p:txBody>
        </p:sp>
      </p:grpSp>
      <p:grpSp>
        <p:nvGrpSpPr>
          <p:cNvPr id="23" name="Group 2783">
            <a:extLst>
              <a:ext uri="{FF2B5EF4-FFF2-40B4-BE49-F238E27FC236}">
                <a16:creationId xmlns:a16="http://schemas.microsoft.com/office/drawing/2014/main" id="{A5C8E103-80E1-4F8E-9A9E-6780352114C8}"/>
              </a:ext>
            </a:extLst>
          </p:cNvPr>
          <p:cNvGrpSpPr/>
          <p:nvPr/>
        </p:nvGrpSpPr>
        <p:grpSpPr>
          <a:xfrm>
            <a:off x="6948167" y="1265643"/>
            <a:ext cx="6589395" cy="4648200"/>
            <a:chOff x="0" y="0"/>
            <a:chExt cx="6589777" cy="4648200"/>
          </a:xfrm>
        </p:grpSpPr>
        <p:pic>
          <p:nvPicPr>
            <p:cNvPr id="24" name="Picture 176">
              <a:extLst>
                <a:ext uri="{FF2B5EF4-FFF2-40B4-BE49-F238E27FC236}">
                  <a16:creationId xmlns:a16="http://schemas.microsoft.com/office/drawing/2014/main" id="{10E8E420-8CDE-43F0-83A9-2B7645221CA3}"/>
                </a:ext>
              </a:extLst>
            </p:cNvPr>
            <p:cNvPicPr/>
            <p:nvPr/>
          </p:nvPicPr>
          <p:blipFill>
            <a:blip r:embed="rId6"/>
            <a:stretch>
              <a:fillRect/>
            </a:stretch>
          </p:blipFill>
          <p:spPr>
            <a:xfrm>
              <a:off x="0" y="0"/>
              <a:ext cx="3035808" cy="2261616"/>
            </a:xfrm>
            <a:prstGeom prst="rect">
              <a:avLst/>
            </a:prstGeom>
          </p:spPr>
        </p:pic>
        <p:pic>
          <p:nvPicPr>
            <p:cNvPr id="25" name="Picture 178">
              <a:extLst>
                <a:ext uri="{FF2B5EF4-FFF2-40B4-BE49-F238E27FC236}">
                  <a16:creationId xmlns:a16="http://schemas.microsoft.com/office/drawing/2014/main" id="{48676544-618C-419E-9555-9A490463D149}"/>
                </a:ext>
              </a:extLst>
            </p:cNvPr>
            <p:cNvPicPr/>
            <p:nvPr/>
          </p:nvPicPr>
          <p:blipFill>
            <a:blip r:embed="rId7"/>
            <a:stretch>
              <a:fillRect/>
            </a:stretch>
          </p:blipFill>
          <p:spPr>
            <a:xfrm>
              <a:off x="34933" y="33767"/>
              <a:ext cx="2912214" cy="2137634"/>
            </a:xfrm>
            <a:prstGeom prst="rect">
              <a:avLst/>
            </a:prstGeom>
          </p:spPr>
        </p:pic>
        <p:sp>
          <p:nvSpPr>
            <p:cNvPr id="26" name="Shape 179">
              <a:extLst>
                <a:ext uri="{FF2B5EF4-FFF2-40B4-BE49-F238E27FC236}">
                  <a16:creationId xmlns:a16="http://schemas.microsoft.com/office/drawing/2014/main" id="{3387B47C-DC04-4CC0-87BD-EA38546599AB}"/>
                </a:ext>
              </a:extLst>
            </p:cNvPr>
            <p:cNvSpPr/>
            <p:nvPr/>
          </p:nvSpPr>
          <p:spPr>
            <a:xfrm>
              <a:off x="30170" y="29003"/>
              <a:ext cx="2921739" cy="2147159"/>
            </a:xfrm>
            <a:custGeom>
              <a:avLst/>
              <a:gdLst/>
              <a:ahLst/>
              <a:cxnLst/>
              <a:rect l="0" t="0" r="0" b="0"/>
              <a:pathLst>
                <a:path w="2921739" h="2147159">
                  <a:moveTo>
                    <a:pt x="0" y="0"/>
                  </a:moveTo>
                  <a:lnTo>
                    <a:pt x="2921739" y="0"/>
                  </a:lnTo>
                  <a:lnTo>
                    <a:pt x="2921739" y="2147159"/>
                  </a:lnTo>
                  <a:lnTo>
                    <a:pt x="0" y="2147159"/>
                  </a:lnTo>
                  <a:close/>
                </a:path>
              </a:pathLst>
            </a:custGeom>
            <a:ln w="9525" cap="sq">
              <a:miter lim="101600"/>
            </a:ln>
          </p:spPr>
          <p:style>
            <a:lnRef idx="1">
              <a:srgbClr val="C00000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s-CO"/>
            </a:p>
          </p:txBody>
        </p:sp>
        <p:pic>
          <p:nvPicPr>
            <p:cNvPr id="27" name="Picture 181">
              <a:extLst>
                <a:ext uri="{FF2B5EF4-FFF2-40B4-BE49-F238E27FC236}">
                  <a16:creationId xmlns:a16="http://schemas.microsoft.com/office/drawing/2014/main" id="{DDB861B4-30B7-4CE1-B9C4-F1BEF17B0678}"/>
                </a:ext>
              </a:extLst>
            </p:cNvPr>
            <p:cNvPicPr/>
            <p:nvPr/>
          </p:nvPicPr>
          <p:blipFill>
            <a:blip r:embed="rId8"/>
            <a:stretch>
              <a:fillRect/>
            </a:stretch>
          </p:blipFill>
          <p:spPr>
            <a:xfrm>
              <a:off x="0" y="2319528"/>
              <a:ext cx="1816608" cy="2328672"/>
            </a:xfrm>
            <a:prstGeom prst="rect">
              <a:avLst/>
            </a:prstGeom>
          </p:spPr>
        </p:pic>
        <p:pic>
          <p:nvPicPr>
            <p:cNvPr id="28" name="Picture 183">
              <a:extLst>
                <a:ext uri="{FF2B5EF4-FFF2-40B4-BE49-F238E27FC236}">
                  <a16:creationId xmlns:a16="http://schemas.microsoft.com/office/drawing/2014/main" id="{CDF0A707-D9E9-45A0-94B0-571C8AC80F77}"/>
                </a:ext>
              </a:extLst>
            </p:cNvPr>
            <p:cNvPicPr/>
            <p:nvPr/>
          </p:nvPicPr>
          <p:blipFill>
            <a:blip r:embed="rId9"/>
            <a:stretch>
              <a:fillRect/>
            </a:stretch>
          </p:blipFill>
          <p:spPr>
            <a:xfrm>
              <a:off x="34933" y="2354540"/>
              <a:ext cx="1692275" cy="2203450"/>
            </a:xfrm>
            <a:prstGeom prst="rect">
              <a:avLst/>
            </a:prstGeom>
          </p:spPr>
        </p:pic>
        <p:sp>
          <p:nvSpPr>
            <p:cNvPr id="29" name="Shape 184">
              <a:extLst>
                <a:ext uri="{FF2B5EF4-FFF2-40B4-BE49-F238E27FC236}">
                  <a16:creationId xmlns:a16="http://schemas.microsoft.com/office/drawing/2014/main" id="{390F8980-8ED0-4CBD-AA72-C18858490560}"/>
                </a:ext>
              </a:extLst>
            </p:cNvPr>
            <p:cNvSpPr/>
            <p:nvPr/>
          </p:nvSpPr>
          <p:spPr>
            <a:xfrm>
              <a:off x="30170" y="2349777"/>
              <a:ext cx="1701801" cy="2212976"/>
            </a:xfrm>
            <a:custGeom>
              <a:avLst/>
              <a:gdLst/>
              <a:ahLst/>
              <a:cxnLst/>
              <a:rect l="0" t="0" r="0" b="0"/>
              <a:pathLst>
                <a:path w="1701801" h="2212976">
                  <a:moveTo>
                    <a:pt x="0" y="0"/>
                  </a:moveTo>
                  <a:lnTo>
                    <a:pt x="1701801" y="0"/>
                  </a:lnTo>
                  <a:lnTo>
                    <a:pt x="1701801" y="2212976"/>
                  </a:lnTo>
                  <a:lnTo>
                    <a:pt x="0" y="2212976"/>
                  </a:lnTo>
                  <a:close/>
                </a:path>
              </a:pathLst>
            </a:custGeom>
            <a:ln w="9525" cap="sq">
              <a:miter lim="101600"/>
            </a:ln>
          </p:spPr>
          <p:style>
            <a:lnRef idx="1">
              <a:srgbClr val="C00000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s-CO"/>
            </a:p>
          </p:txBody>
        </p:sp>
        <p:pic>
          <p:nvPicPr>
            <p:cNvPr id="30" name="Picture 186">
              <a:extLst>
                <a:ext uri="{FF2B5EF4-FFF2-40B4-BE49-F238E27FC236}">
                  <a16:creationId xmlns:a16="http://schemas.microsoft.com/office/drawing/2014/main" id="{B4DC7F51-9FF6-4FB8-881E-FB89173DC189}"/>
                </a:ext>
              </a:extLst>
            </p:cNvPr>
            <p:cNvPicPr/>
            <p:nvPr/>
          </p:nvPicPr>
          <p:blipFill>
            <a:blip r:embed="rId10"/>
            <a:stretch>
              <a:fillRect/>
            </a:stretch>
          </p:blipFill>
          <p:spPr>
            <a:xfrm>
              <a:off x="2987040" y="0"/>
              <a:ext cx="3602735" cy="2261616"/>
            </a:xfrm>
            <a:prstGeom prst="rect">
              <a:avLst/>
            </a:prstGeom>
          </p:spPr>
        </p:pic>
        <p:pic>
          <p:nvPicPr>
            <p:cNvPr id="31" name="Picture 188">
              <a:extLst>
                <a:ext uri="{FF2B5EF4-FFF2-40B4-BE49-F238E27FC236}">
                  <a16:creationId xmlns:a16="http://schemas.microsoft.com/office/drawing/2014/main" id="{E13B4AB7-D7D5-42D2-893F-6CF01DDBAECD}"/>
                </a:ext>
              </a:extLst>
            </p:cNvPr>
            <p:cNvPicPr/>
            <p:nvPr/>
          </p:nvPicPr>
          <p:blipFill>
            <a:blip r:embed="rId11"/>
            <a:stretch>
              <a:fillRect/>
            </a:stretch>
          </p:blipFill>
          <p:spPr>
            <a:xfrm>
              <a:off x="3023347" y="33767"/>
              <a:ext cx="3477751" cy="2137634"/>
            </a:xfrm>
            <a:prstGeom prst="rect">
              <a:avLst/>
            </a:prstGeom>
          </p:spPr>
        </p:pic>
        <p:sp>
          <p:nvSpPr>
            <p:cNvPr id="32" name="Shape 189">
              <a:extLst>
                <a:ext uri="{FF2B5EF4-FFF2-40B4-BE49-F238E27FC236}">
                  <a16:creationId xmlns:a16="http://schemas.microsoft.com/office/drawing/2014/main" id="{6950F6DA-71F9-4856-BE5F-970C324A6E51}"/>
                </a:ext>
              </a:extLst>
            </p:cNvPr>
            <p:cNvSpPr/>
            <p:nvPr/>
          </p:nvSpPr>
          <p:spPr>
            <a:xfrm>
              <a:off x="3018585" y="29003"/>
              <a:ext cx="3487276" cy="2147159"/>
            </a:xfrm>
            <a:custGeom>
              <a:avLst/>
              <a:gdLst/>
              <a:ahLst/>
              <a:cxnLst/>
              <a:rect l="0" t="0" r="0" b="0"/>
              <a:pathLst>
                <a:path w="3487276" h="2147159">
                  <a:moveTo>
                    <a:pt x="0" y="0"/>
                  </a:moveTo>
                  <a:lnTo>
                    <a:pt x="3487276" y="0"/>
                  </a:lnTo>
                  <a:lnTo>
                    <a:pt x="3487276" y="2147159"/>
                  </a:lnTo>
                  <a:lnTo>
                    <a:pt x="0" y="2147159"/>
                  </a:lnTo>
                  <a:close/>
                </a:path>
              </a:pathLst>
            </a:custGeom>
            <a:ln w="9525" cap="sq">
              <a:miter lim="101600"/>
            </a:ln>
          </p:spPr>
          <p:style>
            <a:lnRef idx="1">
              <a:srgbClr val="C00000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s-CO"/>
            </a:p>
          </p:txBody>
        </p:sp>
        <p:pic>
          <p:nvPicPr>
            <p:cNvPr id="33" name="Picture 191">
              <a:extLst>
                <a:ext uri="{FF2B5EF4-FFF2-40B4-BE49-F238E27FC236}">
                  <a16:creationId xmlns:a16="http://schemas.microsoft.com/office/drawing/2014/main" id="{55D78728-51FE-4619-89FF-02CB1647BDB9}"/>
                </a:ext>
              </a:extLst>
            </p:cNvPr>
            <p:cNvPicPr/>
            <p:nvPr/>
          </p:nvPicPr>
          <p:blipFill>
            <a:blip r:embed="rId12"/>
            <a:stretch>
              <a:fillRect/>
            </a:stretch>
          </p:blipFill>
          <p:spPr>
            <a:xfrm>
              <a:off x="5224273" y="2279904"/>
              <a:ext cx="1365504" cy="2322576"/>
            </a:xfrm>
            <a:prstGeom prst="rect">
              <a:avLst/>
            </a:prstGeom>
          </p:spPr>
        </p:pic>
        <p:pic>
          <p:nvPicPr>
            <p:cNvPr id="34" name="Picture 193">
              <a:extLst>
                <a:ext uri="{FF2B5EF4-FFF2-40B4-BE49-F238E27FC236}">
                  <a16:creationId xmlns:a16="http://schemas.microsoft.com/office/drawing/2014/main" id="{9887F3A4-2BE0-4841-A2AD-A1330A059594}"/>
                </a:ext>
              </a:extLst>
            </p:cNvPr>
            <p:cNvPicPr/>
            <p:nvPr/>
          </p:nvPicPr>
          <p:blipFill>
            <a:blip r:embed="rId13"/>
            <a:stretch>
              <a:fillRect/>
            </a:stretch>
          </p:blipFill>
          <p:spPr>
            <a:xfrm>
              <a:off x="5259668" y="2315309"/>
              <a:ext cx="1241425" cy="2197100"/>
            </a:xfrm>
            <a:prstGeom prst="rect">
              <a:avLst/>
            </a:prstGeom>
          </p:spPr>
        </p:pic>
        <p:sp>
          <p:nvSpPr>
            <p:cNvPr id="35" name="Shape 194">
              <a:extLst>
                <a:ext uri="{FF2B5EF4-FFF2-40B4-BE49-F238E27FC236}">
                  <a16:creationId xmlns:a16="http://schemas.microsoft.com/office/drawing/2014/main" id="{63194435-6E1E-451F-B1CC-C9362849298E}"/>
                </a:ext>
              </a:extLst>
            </p:cNvPr>
            <p:cNvSpPr/>
            <p:nvPr/>
          </p:nvSpPr>
          <p:spPr>
            <a:xfrm>
              <a:off x="5254905" y="2310546"/>
              <a:ext cx="1250950" cy="2206626"/>
            </a:xfrm>
            <a:custGeom>
              <a:avLst/>
              <a:gdLst/>
              <a:ahLst/>
              <a:cxnLst/>
              <a:rect l="0" t="0" r="0" b="0"/>
              <a:pathLst>
                <a:path w="1250950" h="2206626">
                  <a:moveTo>
                    <a:pt x="0" y="0"/>
                  </a:moveTo>
                  <a:lnTo>
                    <a:pt x="1250950" y="0"/>
                  </a:lnTo>
                  <a:lnTo>
                    <a:pt x="1250950" y="2206626"/>
                  </a:lnTo>
                  <a:lnTo>
                    <a:pt x="0" y="2206626"/>
                  </a:lnTo>
                  <a:close/>
                </a:path>
              </a:pathLst>
            </a:custGeom>
            <a:ln w="9525" cap="sq">
              <a:miter lim="101600"/>
            </a:ln>
          </p:spPr>
          <p:style>
            <a:lnRef idx="1">
              <a:srgbClr val="C00000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s-CO"/>
            </a:p>
          </p:txBody>
        </p:sp>
        <p:pic>
          <p:nvPicPr>
            <p:cNvPr id="36" name="Picture 199">
              <a:extLst>
                <a:ext uri="{FF2B5EF4-FFF2-40B4-BE49-F238E27FC236}">
                  <a16:creationId xmlns:a16="http://schemas.microsoft.com/office/drawing/2014/main" id="{3F29E0FA-729F-481C-8E29-0406EC882AD7}"/>
                </a:ext>
              </a:extLst>
            </p:cNvPr>
            <p:cNvPicPr/>
            <p:nvPr/>
          </p:nvPicPr>
          <p:blipFill>
            <a:blip r:embed="rId14"/>
            <a:stretch>
              <a:fillRect/>
            </a:stretch>
          </p:blipFill>
          <p:spPr>
            <a:xfrm>
              <a:off x="1868085" y="2354540"/>
              <a:ext cx="3253832" cy="2203450"/>
            </a:xfrm>
            <a:prstGeom prst="rect">
              <a:avLst/>
            </a:prstGeom>
          </p:spPr>
        </p:pic>
        <p:sp>
          <p:nvSpPr>
            <p:cNvPr id="37" name="Shape 200">
              <a:extLst>
                <a:ext uri="{FF2B5EF4-FFF2-40B4-BE49-F238E27FC236}">
                  <a16:creationId xmlns:a16="http://schemas.microsoft.com/office/drawing/2014/main" id="{22C49945-C79C-4F57-8D3A-C4C8A4088E4C}"/>
                </a:ext>
              </a:extLst>
            </p:cNvPr>
            <p:cNvSpPr/>
            <p:nvPr/>
          </p:nvSpPr>
          <p:spPr>
            <a:xfrm>
              <a:off x="1863323" y="2349777"/>
              <a:ext cx="3263357" cy="2212976"/>
            </a:xfrm>
            <a:custGeom>
              <a:avLst/>
              <a:gdLst/>
              <a:ahLst/>
              <a:cxnLst/>
              <a:rect l="0" t="0" r="0" b="0"/>
              <a:pathLst>
                <a:path w="3263357" h="2212976">
                  <a:moveTo>
                    <a:pt x="0" y="0"/>
                  </a:moveTo>
                  <a:lnTo>
                    <a:pt x="3263357" y="0"/>
                  </a:lnTo>
                  <a:lnTo>
                    <a:pt x="3263357" y="2212976"/>
                  </a:lnTo>
                  <a:lnTo>
                    <a:pt x="0" y="2212976"/>
                  </a:lnTo>
                  <a:close/>
                </a:path>
              </a:pathLst>
            </a:custGeom>
            <a:ln w="9525" cap="flat">
              <a:round/>
            </a:ln>
          </p:spPr>
          <p:style>
            <a:lnRef idx="1">
              <a:srgbClr val="C00000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s-CO"/>
            </a:p>
          </p:txBody>
        </p:sp>
      </p:grpSp>
      <p:sp>
        <p:nvSpPr>
          <p:cNvPr id="5" name="Rectangle 25">
            <a:extLst>
              <a:ext uri="{FF2B5EF4-FFF2-40B4-BE49-F238E27FC236}">
                <a16:creationId xmlns:a16="http://schemas.microsoft.com/office/drawing/2014/main" id="{AEFAA8CB-829F-42F6-BEDC-562D2422D3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-4" y="1889521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CO"/>
          </a:p>
        </p:txBody>
      </p:sp>
      <p:sp>
        <p:nvSpPr>
          <p:cNvPr id="13" name="Rectangle 26">
            <a:extLst>
              <a:ext uri="{FF2B5EF4-FFF2-40B4-BE49-F238E27FC236}">
                <a16:creationId xmlns:a16="http://schemas.microsoft.com/office/drawing/2014/main" id="{7756FF6E-2E68-418D-B913-60D0B2D586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1133" y="2052433"/>
            <a:ext cx="4069922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Implementación y Auditoría SG-SST</a:t>
            </a:r>
            <a:endParaRPr kumimoji="0" lang="es-CO" altLang="es-CO" sz="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CO" altLang="es-CO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sp>
        <p:nvSpPr>
          <p:cNvPr id="14" name="Rectangle 27">
            <a:extLst>
              <a:ext uri="{FF2B5EF4-FFF2-40B4-BE49-F238E27FC236}">
                <a16:creationId xmlns:a16="http://schemas.microsoft.com/office/drawing/2014/main" id="{E9FF46AE-185F-4084-A5F0-AF85A2A085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4784" y="2286451"/>
            <a:ext cx="6473107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Diseño, implementación y auditoría de sistemas de gestión conforme a la normativa colombiana (Decreto 1072/2015, Resolución 0312/2019) e ISO 45001.</a:t>
            </a:r>
            <a:endParaRPr kumimoji="0" lang="es-CO" altLang="es-CO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CF9F3AB0-4761-439B-B9BF-48DC108298F0}"/>
              </a:ext>
            </a:extLst>
          </p:cNvPr>
          <p:cNvSpPr txBox="1"/>
          <p:nvPr/>
        </p:nvSpPr>
        <p:spPr>
          <a:xfrm>
            <a:off x="276855" y="5030727"/>
            <a:ext cx="66246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400" dirty="0">
                <a:latin typeface="Arial" panose="020B0604020202020204" pitchFamily="34" charset="0"/>
                <a:ea typeface="Calibri" panose="020F0502020204030204" pitchFamily="34" charset="0"/>
              </a:rPr>
              <a:t>Riesgo Psicosocial y Vigilancia Epidemiológica Diagnóstico de riesgo psicosocial, evaluación de clima laboral, programas de pausas activas y sistemas de vigilancia epidemiológica para la prevención de enfermedades</a:t>
            </a:r>
            <a:endParaRPr lang="es-CO" sz="1400" dirty="0">
              <a:latin typeface="Arial" panose="020B0604020202020204" pitchFamily="34" charset="0"/>
              <a:ea typeface="Calibri" panose="020F0502020204030204" pitchFamily="34" charset="0"/>
            </a:endParaRPr>
          </a:p>
        </p:txBody>
      </p:sp>
      <p:grpSp>
        <p:nvGrpSpPr>
          <p:cNvPr id="41" name="Group 2781">
            <a:extLst>
              <a:ext uri="{FF2B5EF4-FFF2-40B4-BE49-F238E27FC236}">
                <a16:creationId xmlns:a16="http://schemas.microsoft.com/office/drawing/2014/main" id="{C1AF3081-428B-4A13-BD28-9BE008044C80}"/>
              </a:ext>
            </a:extLst>
          </p:cNvPr>
          <p:cNvGrpSpPr/>
          <p:nvPr/>
        </p:nvGrpSpPr>
        <p:grpSpPr>
          <a:xfrm>
            <a:off x="276855" y="4861815"/>
            <a:ext cx="6664325" cy="1236980"/>
            <a:chOff x="0" y="0"/>
            <a:chExt cx="6664882" cy="1237535"/>
          </a:xfrm>
        </p:grpSpPr>
        <p:sp>
          <p:nvSpPr>
            <p:cNvPr id="42" name="Shape 153">
              <a:extLst>
                <a:ext uri="{FF2B5EF4-FFF2-40B4-BE49-F238E27FC236}">
                  <a16:creationId xmlns:a16="http://schemas.microsoft.com/office/drawing/2014/main" id="{FD36FC2D-7FC3-4A74-BA3C-59AD878FB58B}"/>
                </a:ext>
              </a:extLst>
            </p:cNvPr>
            <p:cNvSpPr/>
            <p:nvPr/>
          </p:nvSpPr>
          <p:spPr>
            <a:xfrm>
              <a:off x="15240" y="0"/>
              <a:ext cx="6649642" cy="1237535"/>
            </a:xfrm>
            <a:custGeom>
              <a:avLst/>
              <a:gdLst/>
              <a:ahLst/>
              <a:cxnLst/>
              <a:rect l="0" t="0" r="0" b="0"/>
              <a:pathLst>
                <a:path w="6649642" h="1237535">
                  <a:moveTo>
                    <a:pt x="0" y="82321"/>
                  </a:moveTo>
                  <a:cubicBezTo>
                    <a:pt x="0" y="36856"/>
                    <a:pt x="36856" y="0"/>
                    <a:pt x="82321" y="0"/>
                  </a:cubicBezTo>
                  <a:lnTo>
                    <a:pt x="6567320" y="0"/>
                  </a:lnTo>
                  <a:cubicBezTo>
                    <a:pt x="6612785" y="0"/>
                    <a:pt x="6649642" y="36856"/>
                    <a:pt x="6649642" y="82321"/>
                  </a:cubicBezTo>
                  <a:lnTo>
                    <a:pt x="6649642" y="1155214"/>
                  </a:lnTo>
                  <a:cubicBezTo>
                    <a:pt x="6649642" y="1200679"/>
                    <a:pt x="6612785" y="1237535"/>
                    <a:pt x="6567320" y="1237535"/>
                  </a:cubicBezTo>
                  <a:lnTo>
                    <a:pt x="82321" y="1237535"/>
                  </a:lnTo>
                  <a:cubicBezTo>
                    <a:pt x="36856" y="1237535"/>
                    <a:pt x="0" y="1200679"/>
                    <a:pt x="0" y="1155214"/>
                  </a:cubicBezTo>
                  <a:close/>
                </a:path>
              </a:pathLst>
            </a:custGeom>
            <a:ln w="15240" cap="flat">
              <a:round/>
            </a:ln>
          </p:spPr>
          <p:style>
            <a:lnRef idx="1">
              <a:srgbClr val="313E80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s-CO"/>
            </a:p>
          </p:txBody>
        </p:sp>
        <p:sp>
          <p:nvSpPr>
            <p:cNvPr id="43" name="Shape 154">
              <a:extLst>
                <a:ext uri="{FF2B5EF4-FFF2-40B4-BE49-F238E27FC236}">
                  <a16:creationId xmlns:a16="http://schemas.microsoft.com/office/drawing/2014/main" id="{7DEB1337-2219-46DD-B640-4BFD81471102}"/>
                </a:ext>
              </a:extLst>
            </p:cNvPr>
            <p:cNvSpPr/>
            <p:nvPr/>
          </p:nvSpPr>
          <p:spPr>
            <a:xfrm>
              <a:off x="0" y="1"/>
              <a:ext cx="60960" cy="1099781"/>
            </a:xfrm>
            <a:custGeom>
              <a:avLst/>
              <a:gdLst/>
              <a:ahLst/>
              <a:cxnLst/>
              <a:rect l="0" t="0" r="0" b="0"/>
              <a:pathLst>
                <a:path w="60960" h="1099781">
                  <a:moveTo>
                    <a:pt x="30480" y="0"/>
                  </a:moveTo>
                  <a:cubicBezTo>
                    <a:pt x="47314" y="0"/>
                    <a:pt x="60960" y="13646"/>
                    <a:pt x="60960" y="30480"/>
                  </a:cubicBezTo>
                  <a:lnTo>
                    <a:pt x="60960" y="1069301"/>
                  </a:lnTo>
                  <a:cubicBezTo>
                    <a:pt x="60960" y="1086133"/>
                    <a:pt x="47314" y="1099781"/>
                    <a:pt x="30480" y="1099781"/>
                  </a:cubicBezTo>
                  <a:cubicBezTo>
                    <a:pt x="13646" y="1099781"/>
                    <a:pt x="0" y="1086133"/>
                    <a:pt x="0" y="1069301"/>
                  </a:cubicBezTo>
                  <a:lnTo>
                    <a:pt x="0" y="30480"/>
                  </a:lnTo>
                  <a:cubicBezTo>
                    <a:pt x="0" y="13646"/>
                    <a:pt x="13646" y="0"/>
                    <a:pt x="30480" y="0"/>
                  </a:cubicBezTo>
                  <a:close/>
                </a:path>
              </a:pathLst>
            </a:custGeom>
            <a:ln w="0" cap="flat">
              <a:round/>
            </a:ln>
          </p:spPr>
          <p:style>
            <a:lnRef idx="0">
              <a:srgbClr val="000000">
                <a:alpha val="0"/>
              </a:srgbClr>
            </a:lnRef>
            <a:fillRef idx="1">
              <a:srgbClr val="5A6ED7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s-CO"/>
            </a:p>
          </p:txBody>
        </p:sp>
      </p:grpSp>
    </p:spTree>
    <p:extLst>
      <p:ext uri="{BB962C8B-B14F-4D97-AF65-F5344CB8AC3E}">
        <p14:creationId xmlns:p14="http://schemas.microsoft.com/office/powerpoint/2010/main" val="39259542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tile tx="-247650" ty="-812800" sx="100000" sy="100000" flip="xy" algn="t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Resultado de imagen para CICLO PHVA ANIMADO SEGURIDAD Y SALUD EN EL TRABAJO"/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CrisscrossEtching trans="32000" pressure="2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2735" y="1676399"/>
            <a:ext cx="6905092" cy="4466765"/>
          </a:xfrm>
          <a:prstGeom prst="rect">
            <a:avLst/>
          </a:prstGeom>
          <a:noFill/>
          <a:effectLst>
            <a:glow rad="127000">
              <a:schemeClr val="bg1">
                <a:alpha val="0"/>
              </a:schemeClr>
            </a:glow>
            <a:outerShdw blurRad="50800" dist="50800" dir="5400000" algn="ctr" rotWithShape="0">
              <a:srgbClr val="000000">
                <a:alpha val="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Conector recto 5"/>
          <p:cNvCxnSpPr/>
          <p:nvPr/>
        </p:nvCxnSpPr>
        <p:spPr>
          <a:xfrm flipH="1">
            <a:off x="2" y="6553202"/>
            <a:ext cx="7505698" cy="0"/>
          </a:xfrm>
          <a:prstGeom prst="line">
            <a:avLst/>
          </a:prstGeom>
          <a:ln>
            <a:solidFill>
              <a:srgbClr val="0C0F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ector recto 6"/>
          <p:cNvCxnSpPr/>
          <p:nvPr/>
        </p:nvCxnSpPr>
        <p:spPr>
          <a:xfrm flipH="1">
            <a:off x="4" y="6502401"/>
            <a:ext cx="7505696" cy="0"/>
          </a:xfrm>
          <a:prstGeom prst="line">
            <a:avLst/>
          </a:prstGeom>
          <a:ln>
            <a:solidFill>
              <a:srgbClr val="92010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CuadroTexto 18"/>
          <p:cNvSpPr txBox="1"/>
          <p:nvPr/>
        </p:nvSpPr>
        <p:spPr>
          <a:xfrm>
            <a:off x="215900" y="1727200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ES" dirty="0"/>
          </a:p>
        </p:txBody>
      </p:sp>
      <p:sp>
        <p:nvSpPr>
          <p:cNvPr id="20" name="CuadroTexto 19"/>
          <p:cNvSpPr txBox="1"/>
          <p:nvPr/>
        </p:nvSpPr>
        <p:spPr>
          <a:xfrm>
            <a:off x="-914400" y="1924566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ES" dirty="0"/>
          </a:p>
        </p:txBody>
      </p:sp>
      <p:sp>
        <p:nvSpPr>
          <p:cNvPr id="10" name="Título 3"/>
          <p:cNvSpPr txBox="1">
            <a:spLocks/>
          </p:cNvSpPr>
          <p:nvPr/>
        </p:nvSpPr>
        <p:spPr>
          <a:xfrm>
            <a:off x="215900" y="591826"/>
            <a:ext cx="8050157" cy="67085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6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3200" dirty="0">
                <a:solidFill>
                  <a:schemeClr val="tx1"/>
                </a:solidFill>
              </a:rPr>
              <a:t>Gestión de Calidad y Seguridad Vial</a:t>
            </a:r>
            <a:endParaRPr lang="es-ES" sz="3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57185" y="5868414"/>
            <a:ext cx="1449635" cy="877195"/>
          </a:xfrm>
          <a:prstGeom prst="rect">
            <a:avLst/>
          </a:prstGeom>
        </p:spPr>
      </p:pic>
      <p:sp>
        <p:nvSpPr>
          <p:cNvPr id="14" name="CuadroTexto 13">
            <a:extLst>
              <a:ext uri="{FF2B5EF4-FFF2-40B4-BE49-F238E27FC236}">
                <a16:creationId xmlns:a16="http://schemas.microsoft.com/office/drawing/2014/main" id="{F61F855F-48DD-4AE7-871B-BD49FD114380}"/>
              </a:ext>
            </a:extLst>
          </p:cNvPr>
          <p:cNvSpPr txBox="1"/>
          <p:nvPr/>
        </p:nvSpPr>
        <p:spPr>
          <a:xfrm>
            <a:off x="137180" y="2085447"/>
            <a:ext cx="4245391" cy="28623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s-MX" dirty="0"/>
              <a:t>Sistemas de Gestión de Calidad (ISO 9001) Ayudamos a su organización a implementar y mantener sistemas de gestión de calidad que cumplen con estándares internacionales. </a:t>
            </a:r>
          </a:p>
          <a:p>
            <a:pPr algn="just"/>
            <a:r>
              <a:rPr lang="es-MX" dirty="0"/>
              <a:t>• Diseño e implementación de ISO 9001. </a:t>
            </a:r>
          </a:p>
          <a:p>
            <a:pPr algn="just"/>
            <a:r>
              <a:rPr lang="es-MX" dirty="0"/>
              <a:t>• Auditorías internas y externas. • Planes de calidad personalizados. </a:t>
            </a:r>
          </a:p>
          <a:p>
            <a:pPr algn="just"/>
            <a:r>
              <a:rPr lang="es-MX" dirty="0"/>
              <a:t>• Controles de calidad en productos y servicios. </a:t>
            </a:r>
            <a:endParaRPr lang="es-CO" dirty="0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24339A65-0B05-4381-9903-75D9075FD01B}"/>
              </a:ext>
            </a:extLst>
          </p:cNvPr>
          <p:cNvSpPr txBox="1"/>
          <p:nvPr/>
        </p:nvSpPr>
        <p:spPr>
          <a:xfrm>
            <a:off x="4682709" y="2018857"/>
            <a:ext cx="4245391" cy="424731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s-MX" dirty="0"/>
              <a:t>Plan Estratégico de Seguridad Vial (PESV) Evaluamos el nivel de cumplimiento de su Plan Estratégico de Seguridad Vial (PESV), identificamos brechas frente a la normativa vigente y estructuramos acciones efectivas para su mejora. </a:t>
            </a:r>
          </a:p>
          <a:p>
            <a:pPr algn="just"/>
            <a:r>
              <a:rPr lang="es-MX" dirty="0"/>
              <a:t>• Diagnóstico inicial y brechas normativas • Auditoría interna PESV (Normatividad vigente) </a:t>
            </a:r>
          </a:p>
          <a:p>
            <a:pPr algn="just"/>
            <a:r>
              <a:rPr lang="es-MX" dirty="0"/>
              <a:t>• Acompañamiento en auditorías externas </a:t>
            </a:r>
          </a:p>
          <a:p>
            <a:pPr algn="just"/>
            <a:r>
              <a:rPr lang="es-MX" dirty="0"/>
              <a:t>• Actualización y ajuste del PESV </a:t>
            </a:r>
          </a:p>
          <a:p>
            <a:pPr algn="just"/>
            <a:r>
              <a:rPr lang="es-MX" dirty="0"/>
              <a:t>• Seguimiento a indicadores y plan de acción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70207776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randomBar dir="vert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941" y="530997"/>
            <a:ext cx="3885468" cy="2914101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4736" y="531251"/>
            <a:ext cx="3877152" cy="2907863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977" y="3674177"/>
            <a:ext cx="3511396" cy="2633547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3496" y="3727508"/>
            <a:ext cx="3579632" cy="2010101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cxnSp>
        <p:nvCxnSpPr>
          <p:cNvPr id="9" name="Conector recto 8"/>
          <p:cNvCxnSpPr/>
          <p:nvPr/>
        </p:nvCxnSpPr>
        <p:spPr>
          <a:xfrm flipH="1">
            <a:off x="4" y="6502401"/>
            <a:ext cx="7505696" cy="0"/>
          </a:xfrm>
          <a:prstGeom prst="line">
            <a:avLst/>
          </a:prstGeom>
          <a:ln>
            <a:solidFill>
              <a:srgbClr val="92010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cto 9"/>
          <p:cNvCxnSpPr/>
          <p:nvPr/>
        </p:nvCxnSpPr>
        <p:spPr>
          <a:xfrm flipH="1">
            <a:off x="2" y="6553202"/>
            <a:ext cx="7505698" cy="0"/>
          </a:xfrm>
          <a:prstGeom prst="line">
            <a:avLst/>
          </a:prstGeom>
          <a:ln>
            <a:solidFill>
              <a:srgbClr val="0C0F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Imagen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7021" y="5840064"/>
            <a:ext cx="1449635" cy="877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43636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tile tx="-304800" ty="-1028700" sx="100000" sy="100000" flip="xy" algn="t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uadroTexto 18"/>
          <p:cNvSpPr txBox="1"/>
          <p:nvPr/>
        </p:nvSpPr>
        <p:spPr>
          <a:xfrm>
            <a:off x="60326" y="5060016"/>
            <a:ext cx="298452" cy="4847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ES" dirty="0"/>
          </a:p>
        </p:txBody>
      </p:sp>
      <p:pic>
        <p:nvPicPr>
          <p:cNvPr id="5122" name="Picture 2" descr="Resultado de imagen para vision empresarial gif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8685" y="2233877"/>
            <a:ext cx="5307015" cy="4136965"/>
          </a:xfrm>
          <a:prstGeom prst="rect">
            <a:avLst/>
          </a:prstGeom>
          <a:solidFill>
            <a:schemeClr val="bg2">
              <a:lumMod val="10000"/>
            </a:schemeClr>
          </a:solidFill>
          <a:effectLst>
            <a:glow rad="152400">
              <a:schemeClr val="bg1">
                <a:alpha val="40000"/>
              </a:schemeClr>
            </a:glow>
          </a:effectLst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7021" y="5840064"/>
            <a:ext cx="1449635" cy="877195"/>
          </a:xfrm>
          <a:prstGeom prst="rect">
            <a:avLst/>
          </a:prstGeom>
        </p:spPr>
      </p:pic>
      <p:cxnSp>
        <p:nvCxnSpPr>
          <p:cNvPr id="6" name="Conector recto 5"/>
          <p:cNvCxnSpPr/>
          <p:nvPr/>
        </p:nvCxnSpPr>
        <p:spPr>
          <a:xfrm flipH="1">
            <a:off x="2" y="6553202"/>
            <a:ext cx="7505698" cy="0"/>
          </a:xfrm>
          <a:prstGeom prst="line">
            <a:avLst/>
          </a:prstGeom>
          <a:ln>
            <a:solidFill>
              <a:srgbClr val="0C0F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ector recto 6"/>
          <p:cNvCxnSpPr/>
          <p:nvPr/>
        </p:nvCxnSpPr>
        <p:spPr>
          <a:xfrm flipH="1">
            <a:off x="4" y="6502401"/>
            <a:ext cx="7505696" cy="0"/>
          </a:xfrm>
          <a:prstGeom prst="line">
            <a:avLst/>
          </a:prstGeom>
          <a:ln>
            <a:solidFill>
              <a:srgbClr val="92010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uadroTexto 19"/>
          <p:cNvSpPr txBox="1"/>
          <p:nvPr/>
        </p:nvSpPr>
        <p:spPr>
          <a:xfrm>
            <a:off x="-914400" y="1924566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ES" dirty="0"/>
          </a:p>
        </p:txBody>
      </p:sp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299239" y="312462"/>
            <a:ext cx="8229600" cy="670859"/>
          </a:xfrm>
        </p:spPr>
        <p:txBody>
          <a:bodyPr/>
          <a:lstStyle/>
          <a:p>
            <a:r>
              <a:rPr lang="es-CO" sz="32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SEGURIDAD Y SALUD EN EL TRABAJO</a:t>
            </a:r>
            <a:endParaRPr lang="es-ES" sz="3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Marcador de contenido 7"/>
          <p:cNvSpPr>
            <a:spLocks noGrp="1"/>
          </p:cNvSpPr>
          <p:nvPr>
            <p:ph idx="1"/>
          </p:nvPr>
        </p:nvSpPr>
        <p:spPr>
          <a:xfrm>
            <a:off x="685800" y="1696572"/>
            <a:ext cx="7666038" cy="4459958"/>
          </a:xfrm>
        </p:spPr>
        <p:txBody>
          <a:bodyPr>
            <a:noAutofit/>
          </a:bodyPr>
          <a:lstStyle/>
          <a:p>
            <a:pPr algn="just">
              <a:buClrTx/>
              <a:buFont typeface="Arial" panose="020B0604020202020204" pitchFamily="34" charset="0"/>
              <a:buChar char="•"/>
            </a:pPr>
            <a:r>
              <a:rPr lang="es-CO" sz="1800" dirty="0">
                <a:solidFill>
                  <a:schemeClr val="tx1"/>
                </a:solidFill>
                <a:latin typeface="Century Gothic" panose="020B0502020202020204" pitchFamily="34" charset="0"/>
              </a:rPr>
              <a:t>Riesgo psicosocial, aplicación de baterías para riesgo psicosocial, medición de clima laboral y evaluación de habilidades de personal. Igualmente la documentación del programa de riesgo psicosocial de acuerdo con los requisitos legales aplicables.</a:t>
            </a:r>
          </a:p>
          <a:p>
            <a:pPr algn="just">
              <a:buClrTx/>
              <a:buFont typeface="Arial" panose="020B0604020202020204" pitchFamily="34" charset="0"/>
              <a:buChar char="•"/>
            </a:pPr>
            <a:r>
              <a:rPr lang="es-CO" sz="1800" dirty="0">
                <a:solidFill>
                  <a:schemeClr val="tx1"/>
                </a:solidFill>
                <a:latin typeface="Century Gothic" panose="020B0502020202020204" pitchFamily="34" charset="0"/>
              </a:rPr>
              <a:t>Análisis fisioterapéutico laboral, prevención de riesgos asociados a lesiones musculo-esqueléticas a través de análisis de puestos de trabajo, sistemas de vigilancia epidemiológica con énfasis en carga física y pausas activas.</a:t>
            </a:r>
          </a:p>
          <a:p>
            <a:pPr algn="just">
              <a:buClrTx/>
              <a:buFont typeface="Arial" panose="020B0604020202020204" pitchFamily="34" charset="0"/>
              <a:buChar char="•"/>
            </a:pPr>
            <a:r>
              <a:rPr lang="es-CO" sz="1800" dirty="0">
                <a:solidFill>
                  <a:schemeClr val="tx1"/>
                </a:solidFill>
                <a:latin typeface="Century Gothic" panose="020B0502020202020204" pitchFamily="34" charset="0"/>
              </a:rPr>
              <a:t>Diseño e implementación de planes estratégicos de seguridad vial, bajo los lineamientos de la resolución 1565 de 2014.</a:t>
            </a:r>
          </a:p>
          <a:p>
            <a:pPr algn="just">
              <a:buClrTx/>
              <a:buFont typeface="Arial" panose="020B0604020202020204" pitchFamily="34" charset="0"/>
              <a:buChar char="•"/>
            </a:pPr>
            <a:r>
              <a:rPr lang="es-CO" sz="1800" dirty="0">
                <a:solidFill>
                  <a:schemeClr val="tx1"/>
                </a:solidFill>
                <a:latin typeface="Century Gothic" panose="020B0502020202020204" pitchFamily="34" charset="0"/>
              </a:rPr>
              <a:t>Diseño e implementación de programas especializados de seguridad industrial.</a:t>
            </a:r>
          </a:p>
        </p:txBody>
      </p:sp>
    </p:spTree>
    <p:extLst>
      <p:ext uri="{BB962C8B-B14F-4D97-AF65-F5344CB8AC3E}">
        <p14:creationId xmlns:p14="http://schemas.microsoft.com/office/powerpoint/2010/main" val="34370255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randomBar dir="vert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tile tx="-196850" ty="-1035050" sx="100000" sy="100000" flip="xy" algn="t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CrisscrossEtching trans="21000" pressure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341956" y="2293898"/>
            <a:ext cx="4132941" cy="4035408"/>
          </a:xfrm>
          <a:prstGeom prst="rect">
            <a:avLst/>
          </a:prstGeom>
          <a:effectLst>
            <a:softEdge rad="635000"/>
          </a:effectLst>
          <a:scene3d>
            <a:camera prst="orthographicFront"/>
            <a:lightRig rig="threePt" dir="t"/>
          </a:scene3d>
          <a:sp3d contourW="12700">
            <a:contourClr>
              <a:schemeClr val="bg1"/>
            </a:contourClr>
          </a:sp3d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7021" y="5840064"/>
            <a:ext cx="1449635" cy="877195"/>
          </a:xfrm>
          <a:prstGeom prst="rect">
            <a:avLst/>
          </a:prstGeom>
        </p:spPr>
      </p:pic>
      <p:cxnSp>
        <p:nvCxnSpPr>
          <p:cNvPr id="6" name="Conector recto 5"/>
          <p:cNvCxnSpPr/>
          <p:nvPr/>
        </p:nvCxnSpPr>
        <p:spPr>
          <a:xfrm flipH="1">
            <a:off x="2" y="6553202"/>
            <a:ext cx="7505698" cy="0"/>
          </a:xfrm>
          <a:prstGeom prst="line">
            <a:avLst/>
          </a:prstGeom>
          <a:ln>
            <a:solidFill>
              <a:srgbClr val="0C0F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ector recto 6"/>
          <p:cNvCxnSpPr/>
          <p:nvPr/>
        </p:nvCxnSpPr>
        <p:spPr>
          <a:xfrm flipH="1">
            <a:off x="4" y="6484489"/>
            <a:ext cx="7505696" cy="0"/>
          </a:xfrm>
          <a:prstGeom prst="line">
            <a:avLst/>
          </a:prstGeom>
          <a:ln>
            <a:solidFill>
              <a:srgbClr val="92010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CuadroTexto 18"/>
          <p:cNvSpPr txBox="1"/>
          <p:nvPr/>
        </p:nvSpPr>
        <p:spPr>
          <a:xfrm>
            <a:off x="215900" y="1727200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ES" dirty="0"/>
          </a:p>
        </p:txBody>
      </p:sp>
      <p:sp>
        <p:nvSpPr>
          <p:cNvPr id="20" name="CuadroTexto 19"/>
          <p:cNvSpPr txBox="1"/>
          <p:nvPr/>
        </p:nvSpPr>
        <p:spPr>
          <a:xfrm>
            <a:off x="-914400" y="1924566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ES" dirty="0"/>
          </a:p>
        </p:txBody>
      </p:sp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465254" y="476473"/>
            <a:ext cx="8229600" cy="670859"/>
          </a:xfrm>
        </p:spPr>
        <p:txBody>
          <a:bodyPr/>
          <a:lstStyle/>
          <a:p>
            <a:r>
              <a:rPr lang="es-CO" sz="32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GESTION AMBIENTAL</a:t>
            </a:r>
            <a:endParaRPr lang="es-ES" sz="3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Marcador de contenido 7"/>
          <p:cNvSpPr>
            <a:spLocks noGrp="1"/>
          </p:cNvSpPr>
          <p:nvPr>
            <p:ph idx="1"/>
          </p:nvPr>
        </p:nvSpPr>
        <p:spPr>
          <a:xfrm>
            <a:off x="789500" y="1655442"/>
            <a:ext cx="7662864" cy="3547115"/>
          </a:xfrm>
        </p:spPr>
        <p:txBody>
          <a:bodyPr>
            <a:noAutofit/>
          </a:bodyPr>
          <a:lstStyle/>
          <a:p>
            <a:pPr marL="0" lvl="0" indent="0" algn="just">
              <a:spcBef>
                <a:spcPts val="1200"/>
              </a:spcBef>
              <a:buClrTx/>
              <a:buNone/>
            </a:pPr>
            <a:r>
              <a:rPr lang="es-MX" sz="1400" b="1" dirty="0">
                <a:solidFill>
                  <a:schemeClr val="tx1"/>
                </a:solidFill>
              </a:rPr>
              <a:t>Comprometidos con el Planeta </a:t>
            </a:r>
          </a:p>
          <a:p>
            <a:pPr marL="0" lvl="0" indent="0" algn="just">
              <a:spcBef>
                <a:spcPts val="1200"/>
              </a:spcBef>
              <a:buClrTx/>
              <a:buNone/>
            </a:pPr>
            <a:r>
              <a:rPr lang="es-MX" sz="1400" b="1" dirty="0">
                <a:solidFill>
                  <a:schemeClr val="tx1"/>
                </a:solidFill>
              </a:rPr>
              <a:t>Servicios de Gestión Ambiental </a:t>
            </a:r>
          </a:p>
          <a:p>
            <a:pPr marL="0" lvl="0" indent="0" algn="just">
              <a:spcBef>
                <a:spcPts val="1200"/>
              </a:spcBef>
              <a:buClrTx/>
              <a:buNone/>
            </a:pPr>
            <a:r>
              <a:rPr lang="es-MX" sz="1400" b="1" dirty="0">
                <a:solidFill>
                  <a:schemeClr val="tx1"/>
                </a:solidFill>
              </a:rPr>
              <a:t>Sistemas de Gestión Ambiental (ISO 14001) </a:t>
            </a:r>
            <a:r>
              <a:rPr lang="es-MX" sz="1400" dirty="0">
                <a:solidFill>
                  <a:schemeClr val="tx1"/>
                </a:solidFill>
              </a:rPr>
              <a:t>Diseño e implementación de sistemas basados en la norma internacional para optimizar el desempeño ambiental. </a:t>
            </a:r>
          </a:p>
          <a:p>
            <a:pPr marL="0" lvl="0" indent="0" algn="just">
              <a:spcBef>
                <a:spcPts val="1200"/>
              </a:spcBef>
              <a:buClrTx/>
              <a:buNone/>
            </a:pPr>
            <a:r>
              <a:rPr lang="es-MX" sz="1400" b="1" dirty="0">
                <a:solidFill>
                  <a:schemeClr val="tx1"/>
                </a:solidFill>
              </a:rPr>
              <a:t>Estudios y Licencias Ambientales </a:t>
            </a:r>
            <a:r>
              <a:rPr lang="es-MX" sz="1400" dirty="0">
                <a:solidFill>
                  <a:schemeClr val="tx1"/>
                </a:solidFill>
              </a:rPr>
              <a:t>Elaboración de estudios de impacto y gestión de licencias para proyectos sostenibles. </a:t>
            </a:r>
          </a:p>
          <a:p>
            <a:pPr marL="0" lvl="0" indent="0" algn="just">
              <a:spcBef>
                <a:spcPts val="1200"/>
              </a:spcBef>
              <a:buClrTx/>
              <a:buNone/>
            </a:pPr>
            <a:r>
              <a:rPr lang="es-MX" sz="1400" b="1" dirty="0">
                <a:solidFill>
                  <a:schemeClr val="tx1"/>
                </a:solidFill>
              </a:rPr>
              <a:t>Planes de Manejo Ambiental </a:t>
            </a:r>
            <a:r>
              <a:rPr lang="es-MX" sz="1400" dirty="0">
                <a:solidFill>
                  <a:schemeClr val="tx1"/>
                </a:solidFill>
              </a:rPr>
              <a:t>Desarrollo e implementación de estrategias para mitigar impactos ambientales. </a:t>
            </a:r>
          </a:p>
          <a:p>
            <a:pPr marL="0" lvl="0" indent="0" algn="just">
              <a:spcBef>
                <a:spcPts val="1200"/>
              </a:spcBef>
              <a:buClrTx/>
              <a:buNone/>
            </a:pPr>
            <a:r>
              <a:rPr lang="es-MX" sz="1400" b="1" dirty="0">
                <a:solidFill>
                  <a:schemeClr val="tx1"/>
                </a:solidFill>
              </a:rPr>
              <a:t>Auditorías y Cumplimiento Normativo </a:t>
            </a:r>
            <a:r>
              <a:rPr lang="es-MX" sz="1400" dirty="0">
                <a:solidFill>
                  <a:schemeClr val="tx1"/>
                </a:solidFill>
              </a:rPr>
              <a:t>Evaluación del cumplimiento de la legislación ambiental vigente y preparación para auditorías. </a:t>
            </a:r>
          </a:p>
          <a:p>
            <a:pPr marL="0" lvl="0" indent="0" algn="just">
              <a:spcBef>
                <a:spcPts val="1200"/>
              </a:spcBef>
              <a:buClrTx/>
              <a:buNone/>
            </a:pPr>
            <a:r>
              <a:rPr lang="es-MX" sz="1400" b="1" dirty="0">
                <a:solidFill>
                  <a:schemeClr val="tx1"/>
                </a:solidFill>
              </a:rPr>
              <a:t>Gestión Integral de Residuos </a:t>
            </a:r>
            <a:r>
              <a:rPr lang="es-MX" sz="1400" dirty="0">
                <a:solidFill>
                  <a:schemeClr val="tx1"/>
                </a:solidFill>
              </a:rPr>
              <a:t>Diseño de programas para la reducción, reutilización y disposición adecuada de residuos. </a:t>
            </a:r>
          </a:p>
          <a:p>
            <a:pPr marL="0" lvl="0" indent="0" algn="just">
              <a:spcBef>
                <a:spcPts val="1200"/>
              </a:spcBef>
              <a:buClrTx/>
              <a:buNone/>
            </a:pPr>
            <a:r>
              <a:rPr lang="es-MX" sz="1400" b="1" dirty="0">
                <a:solidFill>
                  <a:schemeClr val="tx1"/>
                </a:solidFill>
              </a:rPr>
              <a:t>Planes de Emergencia Ambiental </a:t>
            </a:r>
            <a:r>
              <a:rPr lang="es-MX" sz="1400" dirty="0">
                <a:solidFill>
                  <a:schemeClr val="tx1"/>
                </a:solidFill>
              </a:rPr>
              <a:t>Preparación y respuesta ante posibles contingencias ambientales para minimizar riesgos.</a:t>
            </a:r>
            <a:endParaRPr lang="es-CO" sz="1800" dirty="0">
              <a:solidFill>
                <a:schemeClr val="tx1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77729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tile tx="-247650" ty="-812800" sx="100000" sy="100000" flip="xy" algn="t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CrisscrossEtching trans="63000" pressure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75845" y="1771465"/>
            <a:ext cx="5468482" cy="4476218"/>
          </a:xfrm>
          <a:prstGeom prst="rect">
            <a:avLst/>
          </a:prstGeom>
          <a:effectLst/>
          <a:scene3d>
            <a:camera prst="orthographicFront"/>
            <a:lightRig rig="threePt" dir="t"/>
          </a:scene3d>
          <a:sp3d extrusionH="76200">
            <a:extrusionClr>
              <a:schemeClr val="tx1"/>
            </a:extrusionClr>
          </a:sp3d>
        </p:spPr>
      </p:pic>
      <p:cxnSp>
        <p:nvCxnSpPr>
          <p:cNvPr id="6" name="Conector recto 5"/>
          <p:cNvCxnSpPr/>
          <p:nvPr/>
        </p:nvCxnSpPr>
        <p:spPr>
          <a:xfrm flipH="1">
            <a:off x="2" y="6553202"/>
            <a:ext cx="7505698" cy="0"/>
          </a:xfrm>
          <a:prstGeom prst="line">
            <a:avLst/>
          </a:prstGeom>
          <a:ln>
            <a:solidFill>
              <a:srgbClr val="0C0F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ector recto 6"/>
          <p:cNvCxnSpPr/>
          <p:nvPr/>
        </p:nvCxnSpPr>
        <p:spPr>
          <a:xfrm flipH="1">
            <a:off x="4" y="6502401"/>
            <a:ext cx="7505696" cy="0"/>
          </a:xfrm>
          <a:prstGeom prst="line">
            <a:avLst/>
          </a:prstGeom>
          <a:ln>
            <a:solidFill>
              <a:srgbClr val="92010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uadroTexto 19"/>
          <p:cNvSpPr txBox="1"/>
          <p:nvPr/>
        </p:nvSpPr>
        <p:spPr>
          <a:xfrm>
            <a:off x="-914400" y="1924566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ES" dirty="0"/>
          </a:p>
        </p:txBody>
      </p:sp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325564" y="564891"/>
            <a:ext cx="8229600" cy="670859"/>
          </a:xfrm>
        </p:spPr>
        <p:txBody>
          <a:bodyPr/>
          <a:lstStyle/>
          <a:p>
            <a:r>
              <a:rPr lang="es-CO" sz="32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Capacitación y Entrenamiento Especializado</a:t>
            </a:r>
            <a:endParaRPr lang="es-ES" sz="3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AutoShape 2" descr="Resultado de imagen para entrenamiento laboral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grpSp>
        <p:nvGrpSpPr>
          <p:cNvPr id="29" name="Group 3007">
            <a:extLst>
              <a:ext uri="{FF2B5EF4-FFF2-40B4-BE49-F238E27FC236}">
                <a16:creationId xmlns:a16="http://schemas.microsoft.com/office/drawing/2014/main" id="{DE327A44-2891-453C-AFCC-753F2054DD50}"/>
              </a:ext>
            </a:extLst>
          </p:cNvPr>
          <p:cNvGrpSpPr/>
          <p:nvPr/>
        </p:nvGrpSpPr>
        <p:grpSpPr>
          <a:xfrm>
            <a:off x="8828851" y="261622"/>
            <a:ext cx="2632075" cy="6291580"/>
            <a:chOff x="0" y="0"/>
            <a:chExt cx="2632627" cy="6291738"/>
          </a:xfrm>
        </p:grpSpPr>
        <p:pic>
          <p:nvPicPr>
            <p:cNvPr id="30" name="Picture 316">
              <a:extLst>
                <a:ext uri="{FF2B5EF4-FFF2-40B4-BE49-F238E27FC236}">
                  <a16:creationId xmlns:a16="http://schemas.microsoft.com/office/drawing/2014/main" id="{6FA0BA2D-660E-4DB4-8737-BA7BE61AB042}"/>
                </a:ext>
              </a:extLst>
            </p:cNvPr>
            <p:cNvPicPr/>
            <p:nvPr/>
          </p:nvPicPr>
          <p:blipFill>
            <a:blip r:embed="rId6"/>
            <a:stretch>
              <a:fillRect/>
            </a:stretch>
          </p:blipFill>
          <p:spPr>
            <a:xfrm>
              <a:off x="0" y="0"/>
              <a:ext cx="2632627" cy="1946788"/>
            </a:xfrm>
            <a:prstGeom prst="rect">
              <a:avLst/>
            </a:prstGeom>
          </p:spPr>
        </p:pic>
        <p:pic>
          <p:nvPicPr>
            <p:cNvPr id="31" name="Picture 318">
              <a:extLst>
                <a:ext uri="{FF2B5EF4-FFF2-40B4-BE49-F238E27FC236}">
                  <a16:creationId xmlns:a16="http://schemas.microsoft.com/office/drawing/2014/main" id="{6699B71D-1E82-44A1-B831-F0E4BD322195}"/>
                </a:ext>
              </a:extLst>
            </p:cNvPr>
            <p:cNvPicPr/>
            <p:nvPr/>
          </p:nvPicPr>
          <p:blipFill>
            <a:blip r:embed="rId7"/>
            <a:stretch>
              <a:fillRect/>
            </a:stretch>
          </p:blipFill>
          <p:spPr>
            <a:xfrm>
              <a:off x="0" y="2141458"/>
              <a:ext cx="2583339" cy="1937504"/>
            </a:xfrm>
            <a:prstGeom prst="rect">
              <a:avLst/>
            </a:prstGeom>
          </p:spPr>
        </p:pic>
        <p:pic>
          <p:nvPicPr>
            <p:cNvPr id="32" name="Picture 320">
              <a:extLst>
                <a:ext uri="{FF2B5EF4-FFF2-40B4-BE49-F238E27FC236}">
                  <a16:creationId xmlns:a16="http://schemas.microsoft.com/office/drawing/2014/main" id="{BA0127F0-58FA-462E-BA94-9B815AE49F93}"/>
                </a:ext>
              </a:extLst>
            </p:cNvPr>
            <p:cNvPicPr/>
            <p:nvPr/>
          </p:nvPicPr>
          <p:blipFill>
            <a:blip r:embed="rId8"/>
            <a:stretch>
              <a:fillRect/>
            </a:stretch>
          </p:blipFill>
          <p:spPr>
            <a:xfrm>
              <a:off x="34149" y="4389358"/>
              <a:ext cx="2536508" cy="1902380"/>
            </a:xfrm>
            <a:prstGeom prst="rect">
              <a:avLst/>
            </a:prstGeom>
          </p:spPr>
        </p:pic>
      </p:grpSp>
      <p:sp>
        <p:nvSpPr>
          <p:cNvPr id="9" name="Rectangle 21">
            <a:extLst>
              <a:ext uri="{FF2B5EF4-FFF2-40B4-BE49-F238E27FC236}">
                <a16:creationId xmlns:a16="http://schemas.microsoft.com/office/drawing/2014/main" id="{54C43E70-1D65-4DB6-9F9B-204F040C9C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842" y="1760927"/>
            <a:ext cx="8369044" cy="12841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53939" tIns="45720" rIns="-3174" bIns="403098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Fortalecemos las capacidades de sus colaboradores con programas de capacitación diseñados para prevenir riesgos y asegurar el cumplimiento normativo en SST.</a:t>
            </a:r>
            <a:endParaRPr kumimoji="0" lang="es-CO" altLang="es-CO" sz="22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  <a:ea typeface="Calibri" panose="020F0502020204030204" pitchFamily="34" charset="0"/>
            </a:endParaRPr>
          </a:p>
        </p:txBody>
      </p:sp>
      <p:sp>
        <p:nvSpPr>
          <p:cNvPr id="10" name="Rectangle 23">
            <a:extLst>
              <a:ext uri="{FF2B5EF4-FFF2-40B4-BE49-F238E27FC236}">
                <a16:creationId xmlns:a16="http://schemas.microsoft.com/office/drawing/2014/main" id="{82799F04-E060-44E5-8530-D4CECC06FF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5575" y="3113538"/>
            <a:ext cx="8299322" cy="20928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s-CO" altLang="es-CO" dirty="0">
                <a:latin typeface="Arial" panose="020B0604020202020204" pitchFamily="34" charset="0"/>
                <a:ea typeface="Calibri" panose="020F0502020204030204" pitchFamily="34" charset="0"/>
              </a:rPr>
              <a:t>Prevención de Riesgos Laborales</a:t>
            </a:r>
          </a:p>
          <a:p>
            <a:pPr marL="285750" indent="-28575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s-CO" altLang="es-CO" dirty="0">
                <a:latin typeface="Arial" panose="020B0604020202020204" pitchFamily="34" charset="0"/>
                <a:ea typeface="Calibri" panose="020F0502020204030204" pitchFamily="34" charset="0"/>
              </a:rPr>
              <a:t>Legislación en SG-SST e identificación de peligros</a:t>
            </a:r>
          </a:p>
          <a:p>
            <a:pPr marL="285750" indent="-28575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s-CO" altLang="es-CO" dirty="0">
                <a:latin typeface="Arial" panose="020B0604020202020204" pitchFamily="34" charset="0"/>
                <a:ea typeface="Calibri" panose="020F0502020204030204" pitchFamily="34" charset="0"/>
              </a:rPr>
              <a:t>Formación de Brigadas de Emergencias , COPASST y Comité de convivencia Laboral</a:t>
            </a:r>
          </a:p>
          <a:p>
            <a:pPr marL="285750" indent="-28575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s-CO" altLang="es-CO" dirty="0">
                <a:latin typeface="Arial" panose="020B0604020202020204" pitchFamily="34" charset="0"/>
                <a:ea typeface="Calibri" panose="020F0502020204030204" pitchFamily="34" charset="0"/>
              </a:rPr>
              <a:t>Riesgos Específicos descritos en guía técnicas colombiana gtc 45 : eléctrico , mecánico , etc.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22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 </a:t>
            </a:r>
            <a:endParaRPr kumimoji="0" lang="es-CO" altLang="es-CO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48544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20180317_125151.jp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054" y="157282"/>
            <a:ext cx="3532215" cy="1983475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pic>
        <p:nvPicPr>
          <p:cNvPr id="5" name="Imagen 4" descr="IMG-20180323-WA0041.jp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2008" y="495925"/>
            <a:ext cx="2660020" cy="1995015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pic>
        <p:nvPicPr>
          <p:cNvPr id="6" name="Imagen 5" descr="IMG-20180323-WA0035.jpg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8200" y="3047438"/>
            <a:ext cx="2062398" cy="2749864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054" y="4464730"/>
            <a:ext cx="3532215" cy="1986871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pic>
        <p:nvPicPr>
          <p:cNvPr id="8" name="Imagen 7"/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054" y="2319174"/>
            <a:ext cx="3532214" cy="1986871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cxnSp>
        <p:nvCxnSpPr>
          <p:cNvPr id="9" name="Conector recto 8"/>
          <p:cNvCxnSpPr/>
          <p:nvPr/>
        </p:nvCxnSpPr>
        <p:spPr>
          <a:xfrm flipH="1">
            <a:off x="4" y="6502401"/>
            <a:ext cx="7505696" cy="0"/>
          </a:xfrm>
          <a:prstGeom prst="line">
            <a:avLst/>
          </a:prstGeom>
          <a:ln>
            <a:solidFill>
              <a:srgbClr val="92010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cto 9"/>
          <p:cNvCxnSpPr/>
          <p:nvPr/>
        </p:nvCxnSpPr>
        <p:spPr>
          <a:xfrm flipH="1">
            <a:off x="2" y="6553202"/>
            <a:ext cx="7505698" cy="0"/>
          </a:xfrm>
          <a:prstGeom prst="line">
            <a:avLst/>
          </a:prstGeom>
          <a:ln>
            <a:solidFill>
              <a:srgbClr val="0C0F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Imagen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7021" y="5855054"/>
            <a:ext cx="1449635" cy="877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22050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tile tx="-196850" ty="-1035050" sx="100000" sy="100000" flip="xy" algn="t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n 14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CrisscrossEtching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9131" y="1785529"/>
            <a:ext cx="3862335" cy="3862335"/>
          </a:xfrm>
          <a:prstGeom prst="rect">
            <a:avLst/>
          </a:prstGeom>
          <a:effectLst>
            <a:outerShdw blurRad="1270000" dist="2540000" dir="21540000" sx="200000" sy="200000" algn="ctr" rotWithShape="0">
              <a:srgbClr val="000000">
                <a:alpha val="0"/>
              </a:srgbClr>
            </a:outerShdw>
          </a:effectLst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05700" y="5840064"/>
            <a:ext cx="1449635" cy="877195"/>
          </a:xfrm>
          <a:prstGeom prst="rect">
            <a:avLst/>
          </a:prstGeom>
        </p:spPr>
      </p:pic>
      <p:cxnSp>
        <p:nvCxnSpPr>
          <p:cNvPr id="6" name="Conector recto 5"/>
          <p:cNvCxnSpPr/>
          <p:nvPr/>
        </p:nvCxnSpPr>
        <p:spPr>
          <a:xfrm flipH="1">
            <a:off x="-121319" y="6553202"/>
            <a:ext cx="7505698" cy="0"/>
          </a:xfrm>
          <a:prstGeom prst="line">
            <a:avLst/>
          </a:prstGeom>
          <a:ln>
            <a:solidFill>
              <a:srgbClr val="0C0F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ector recto 6"/>
          <p:cNvCxnSpPr/>
          <p:nvPr/>
        </p:nvCxnSpPr>
        <p:spPr>
          <a:xfrm flipH="1">
            <a:off x="-121317" y="6484489"/>
            <a:ext cx="7505696" cy="0"/>
          </a:xfrm>
          <a:prstGeom prst="line">
            <a:avLst/>
          </a:prstGeom>
          <a:ln>
            <a:solidFill>
              <a:srgbClr val="92010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CuadroTexto 18"/>
          <p:cNvSpPr txBox="1"/>
          <p:nvPr/>
        </p:nvSpPr>
        <p:spPr>
          <a:xfrm>
            <a:off x="215900" y="1727200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ES" dirty="0"/>
          </a:p>
        </p:txBody>
      </p:sp>
      <p:sp>
        <p:nvSpPr>
          <p:cNvPr id="20" name="CuadroTexto 19"/>
          <p:cNvSpPr txBox="1"/>
          <p:nvPr/>
        </p:nvSpPr>
        <p:spPr>
          <a:xfrm>
            <a:off x="-914400" y="1924566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ES" dirty="0"/>
          </a:p>
        </p:txBody>
      </p:sp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465254" y="476473"/>
            <a:ext cx="8229600" cy="670859"/>
          </a:xfrm>
        </p:spPr>
        <p:txBody>
          <a:bodyPr/>
          <a:lstStyle/>
          <a:p>
            <a:r>
              <a:rPr lang="es-CO" sz="2800" dirty="0">
                <a:solidFill>
                  <a:schemeClr val="tx1"/>
                </a:solidFill>
              </a:rPr>
              <a:t>Mediciones Higiénicas Ocupacionales</a:t>
            </a:r>
            <a:endParaRPr lang="es-ES" sz="28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C43D44B2-21E5-4720-A015-35E1BB3C4935}"/>
              </a:ext>
            </a:extLst>
          </p:cNvPr>
          <p:cNvSpPr txBox="1"/>
          <p:nvPr/>
        </p:nvSpPr>
        <p:spPr>
          <a:xfrm>
            <a:off x="908564" y="1358318"/>
            <a:ext cx="75438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MX" dirty="0"/>
              <a:t>Realizamos mediciones precisas para evaluar los riesgos higiénicos en su entorno laboral, garantizando un ambiente seguro y saludable para sus empleados.</a:t>
            </a:r>
            <a:endParaRPr lang="es-CO" dirty="0"/>
          </a:p>
        </p:txBody>
      </p:sp>
      <p:grpSp>
        <p:nvGrpSpPr>
          <p:cNvPr id="38" name="Group 2810">
            <a:extLst>
              <a:ext uri="{FF2B5EF4-FFF2-40B4-BE49-F238E27FC236}">
                <a16:creationId xmlns:a16="http://schemas.microsoft.com/office/drawing/2014/main" id="{D0A03295-6E00-4714-9394-14926A9C8A6E}"/>
              </a:ext>
            </a:extLst>
          </p:cNvPr>
          <p:cNvGrpSpPr/>
          <p:nvPr/>
        </p:nvGrpSpPr>
        <p:grpSpPr>
          <a:xfrm>
            <a:off x="465255" y="2352636"/>
            <a:ext cx="3862336" cy="668020"/>
            <a:chOff x="0" y="0"/>
            <a:chExt cx="6424493" cy="668059"/>
          </a:xfrm>
        </p:grpSpPr>
        <p:sp>
          <p:nvSpPr>
            <p:cNvPr id="39" name="Shape 333">
              <a:extLst>
                <a:ext uri="{FF2B5EF4-FFF2-40B4-BE49-F238E27FC236}">
                  <a16:creationId xmlns:a16="http://schemas.microsoft.com/office/drawing/2014/main" id="{23307BEE-8DB8-4207-AF7E-397988923DC7}"/>
                </a:ext>
              </a:extLst>
            </p:cNvPr>
            <p:cNvSpPr/>
            <p:nvPr/>
          </p:nvSpPr>
          <p:spPr>
            <a:xfrm>
              <a:off x="0" y="303489"/>
              <a:ext cx="6424493" cy="121920"/>
            </a:xfrm>
            <a:custGeom>
              <a:avLst/>
              <a:gdLst/>
              <a:ahLst/>
              <a:cxnLst/>
              <a:rect l="0" t="0" r="0" b="0"/>
              <a:pathLst>
                <a:path w="6424493" h="121920">
                  <a:moveTo>
                    <a:pt x="60957" y="0"/>
                  </a:moveTo>
                  <a:lnTo>
                    <a:pt x="6363536" y="0"/>
                  </a:lnTo>
                  <a:cubicBezTo>
                    <a:pt x="6397202" y="0"/>
                    <a:pt x="6424493" y="27294"/>
                    <a:pt x="6424493" y="60960"/>
                  </a:cubicBezTo>
                  <a:cubicBezTo>
                    <a:pt x="6424493" y="94628"/>
                    <a:pt x="6397202" y="121920"/>
                    <a:pt x="6363536" y="121920"/>
                  </a:cubicBezTo>
                  <a:lnTo>
                    <a:pt x="60957" y="121920"/>
                  </a:lnTo>
                  <a:cubicBezTo>
                    <a:pt x="27291" y="121920"/>
                    <a:pt x="0" y="94628"/>
                    <a:pt x="0" y="60960"/>
                  </a:cubicBezTo>
                  <a:cubicBezTo>
                    <a:pt x="0" y="27294"/>
                    <a:pt x="27291" y="0"/>
                    <a:pt x="60957" y="0"/>
                  </a:cubicBez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5A6ED7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s-CO"/>
            </a:p>
          </p:txBody>
        </p:sp>
        <p:sp>
          <p:nvSpPr>
            <p:cNvPr id="40" name="Shape 334">
              <a:extLst>
                <a:ext uri="{FF2B5EF4-FFF2-40B4-BE49-F238E27FC236}">
                  <a16:creationId xmlns:a16="http://schemas.microsoft.com/office/drawing/2014/main" id="{28D05A87-216A-4951-8572-7EC65239423B}"/>
                </a:ext>
              </a:extLst>
            </p:cNvPr>
            <p:cNvSpPr/>
            <p:nvPr/>
          </p:nvSpPr>
          <p:spPr>
            <a:xfrm>
              <a:off x="2878157" y="0"/>
              <a:ext cx="668059" cy="668059"/>
            </a:xfrm>
            <a:custGeom>
              <a:avLst/>
              <a:gdLst/>
              <a:ahLst/>
              <a:cxnLst/>
              <a:rect l="0" t="0" r="0" b="0"/>
              <a:pathLst>
                <a:path w="668059" h="668059">
                  <a:moveTo>
                    <a:pt x="334030" y="0"/>
                  </a:moveTo>
                  <a:cubicBezTo>
                    <a:pt x="518509" y="0"/>
                    <a:pt x="668059" y="149550"/>
                    <a:pt x="668059" y="334029"/>
                  </a:cubicBezTo>
                  <a:cubicBezTo>
                    <a:pt x="668059" y="518509"/>
                    <a:pt x="518509" y="668059"/>
                    <a:pt x="334030" y="668059"/>
                  </a:cubicBezTo>
                  <a:cubicBezTo>
                    <a:pt x="149550" y="668059"/>
                    <a:pt x="0" y="518509"/>
                    <a:pt x="0" y="334029"/>
                  </a:cubicBezTo>
                  <a:cubicBezTo>
                    <a:pt x="0" y="149550"/>
                    <a:pt x="149550" y="0"/>
                    <a:pt x="334030" y="0"/>
                  </a:cubicBez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5A6ED7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s-CO" dirty="0"/>
            </a:p>
          </p:txBody>
        </p:sp>
        <p:sp>
          <p:nvSpPr>
            <p:cNvPr id="41" name="Rectangle 335">
              <a:extLst>
                <a:ext uri="{FF2B5EF4-FFF2-40B4-BE49-F238E27FC236}">
                  <a16:creationId xmlns:a16="http://schemas.microsoft.com/office/drawing/2014/main" id="{F93DF7EC-A660-41EC-9D44-1D20F58B1FBF}"/>
                </a:ext>
              </a:extLst>
            </p:cNvPr>
            <p:cNvSpPr/>
            <p:nvPr/>
          </p:nvSpPr>
          <p:spPr>
            <a:xfrm>
              <a:off x="3136721" y="220012"/>
              <a:ext cx="1067158" cy="415677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s-CO" sz="2100" dirty="0">
                  <a:solidFill>
                    <a:srgbClr val="FFFFFF"/>
                  </a:solidFill>
                  <a:latin typeface="Calibri" panose="020F0502020204030204" pitchFamily="34" charset="0"/>
                  <a:ea typeface="Calibri" panose="020F0502020204030204" pitchFamily="34" charset="0"/>
                </a:rPr>
                <a:t>1</a:t>
              </a:r>
              <a:endParaRPr lang="es-CO" sz="1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</p:grpSp>
      <p:pic>
        <p:nvPicPr>
          <p:cNvPr id="7196" name="Picture 361">
            <a:extLst>
              <a:ext uri="{FF2B5EF4-FFF2-40B4-BE49-F238E27FC236}">
                <a16:creationId xmlns:a16="http://schemas.microsoft.com/office/drawing/2014/main" id="{90E3D807-D313-469D-8424-5D693A0494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49404" y="9356686"/>
            <a:ext cx="174625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6" name="Group 2810">
            <a:extLst>
              <a:ext uri="{FF2B5EF4-FFF2-40B4-BE49-F238E27FC236}">
                <a16:creationId xmlns:a16="http://schemas.microsoft.com/office/drawing/2014/main" id="{442924DA-0966-40C6-B78D-A5B46B781A23}"/>
              </a:ext>
            </a:extLst>
          </p:cNvPr>
          <p:cNvGrpSpPr/>
          <p:nvPr/>
        </p:nvGrpSpPr>
        <p:grpSpPr>
          <a:xfrm>
            <a:off x="4531729" y="2335344"/>
            <a:ext cx="3862336" cy="668020"/>
            <a:chOff x="0" y="0"/>
            <a:chExt cx="6424493" cy="668059"/>
          </a:xfrm>
        </p:grpSpPr>
        <p:sp>
          <p:nvSpPr>
            <p:cNvPr id="47" name="Shape 333">
              <a:extLst>
                <a:ext uri="{FF2B5EF4-FFF2-40B4-BE49-F238E27FC236}">
                  <a16:creationId xmlns:a16="http://schemas.microsoft.com/office/drawing/2014/main" id="{F883EF75-1AA7-40C0-A6D3-C51BC761BDAA}"/>
                </a:ext>
              </a:extLst>
            </p:cNvPr>
            <p:cNvSpPr/>
            <p:nvPr/>
          </p:nvSpPr>
          <p:spPr>
            <a:xfrm>
              <a:off x="0" y="303489"/>
              <a:ext cx="6424493" cy="121920"/>
            </a:xfrm>
            <a:custGeom>
              <a:avLst/>
              <a:gdLst/>
              <a:ahLst/>
              <a:cxnLst/>
              <a:rect l="0" t="0" r="0" b="0"/>
              <a:pathLst>
                <a:path w="6424493" h="121920">
                  <a:moveTo>
                    <a:pt x="60957" y="0"/>
                  </a:moveTo>
                  <a:lnTo>
                    <a:pt x="6363536" y="0"/>
                  </a:lnTo>
                  <a:cubicBezTo>
                    <a:pt x="6397202" y="0"/>
                    <a:pt x="6424493" y="27294"/>
                    <a:pt x="6424493" y="60960"/>
                  </a:cubicBezTo>
                  <a:cubicBezTo>
                    <a:pt x="6424493" y="94628"/>
                    <a:pt x="6397202" y="121920"/>
                    <a:pt x="6363536" y="121920"/>
                  </a:cubicBezTo>
                  <a:lnTo>
                    <a:pt x="60957" y="121920"/>
                  </a:lnTo>
                  <a:cubicBezTo>
                    <a:pt x="27291" y="121920"/>
                    <a:pt x="0" y="94628"/>
                    <a:pt x="0" y="60960"/>
                  </a:cubicBezTo>
                  <a:cubicBezTo>
                    <a:pt x="0" y="27294"/>
                    <a:pt x="27291" y="0"/>
                    <a:pt x="60957" y="0"/>
                  </a:cubicBez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5A6ED7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s-CO"/>
            </a:p>
          </p:txBody>
        </p:sp>
        <p:sp>
          <p:nvSpPr>
            <p:cNvPr id="48" name="Shape 334">
              <a:extLst>
                <a:ext uri="{FF2B5EF4-FFF2-40B4-BE49-F238E27FC236}">
                  <a16:creationId xmlns:a16="http://schemas.microsoft.com/office/drawing/2014/main" id="{9497044E-981C-492F-9309-6533EEFE5517}"/>
                </a:ext>
              </a:extLst>
            </p:cNvPr>
            <p:cNvSpPr/>
            <p:nvPr/>
          </p:nvSpPr>
          <p:spPr>
            <a:xfrm>
              <a:off x="2878157" y="0"/>
              <a:ext cx="668059" cy="668059"/>
            </a:xfrm>
            <a:custGeom>
              <a:avLst/>
              <a:gdLst/>
              <a:ahLst/>
              <a:cxnLst/>
              <a:rect l="0" t="0" r="0" b="0"/>
              <a:pathLst>
                <a:path w="668059" h="668059">
                  <a:moveTo>
                    <a:pt x="334030" y="0"/>
                  </a:moveTo>
                  <a:cubicBezTo>
                    <a:pt x="518509" y="0"/>
                    <a:pt x="668059" y="149550"/>
                    <a:pt x="668059" y="334029"/>
                  </a:cubicBezTo>
                  <a:cubicBezTo>
                    <a:pt x="668059" y="518509"/>
                    <a:pt x="518509" y="668059"/>
                    <a:pt x="334030" y="668059"/>
                  </a:cubicBezTo>
                  <a:cubicBezTo>
                    <a:pt x="149550" y="668059"/>
                    <a:pt x="0" y="518509"/>
                    <a:pt x="0" y="334029"/>
                  </a:cubicBezTo>
                  <a:cubicBezTo>
                    <a:pt x="0" y="149550"/>
                    <a:pt x="149550" y="0"/>
                    <a:pt x="334030" y="0"/>
                  </a:cubicBez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5A6ED7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s-CO" dirty="0"/>
            </a:p>
          </p:txBody>
        </p:sp>
        <p:sp>
          <p:nvSpPr>
            <p:cNvPr id="49" name="Rectangle 335">
              <a:extLst>
                <a:ext uri="{FF2B5EF4-FFF2-40B4-BE49-F238E27FC236}">
                  <a16:creationId xmlns:a16="http://schemas.microsoft.com/office/drawing/2014/main" id="{8159A198-1D37-4482-A524-96D859D4480D}"/>
                </a:ext>
              </a:extLst>
            </p:cNvPr>
            <p:cNvSpPr/>
            <p:nvPr/>
          </p:nvSpPr>
          <p:spPr>
            <a:xfrm>
              <a:off x="3136721" y="220012"/>
              <a:ext cx="1067158" cy="415677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s-CO" sz="2100" dirty="0">
                  <a:solidFill>
                    <a:srgbClr val="FFFFFF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2</a:t>
              </a:r>
              <a:endParaRPr lang="es-CO" sz="1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</p:grpSp>
      <p:grpSp>
        <p:nvGrpSpPr>
          <p:cNvPr id="50" name="Group 2810">
            <a:extLst>
              <a:ext uri="{FF2B5EF4-FFF2-40B4-BE49-F238E27FC236}">
                <a16:creationId xmlns:a16="http://schemas.microsoft.com/office/drawing/2014/main" id="{63D44034-E376-4F65-A7F4-4604F8389CFA}"/>
              </a:ext>
            </a:extLst>
          </p:cNvPr>
          <p:cNvGrpSpPr/>
          <p:nvPr/>
        </p:nvGrpSpPr>
        <p:grpSpPr>
          <a:xfrm>
            <a:off x="4718926" y="4415149"/>
            <a:ext cx="3862336" cy="668020"/>
            <a:chOff x="0" y="0"/>
            <a:chExt cx="6424493" cy="668059"/>
          </a:xfrm>
        </p:grpSpPr>
        <p:sp>
          <p:nvSpPr>
            <p:cNvPr id="51" name="Shape 333">
              <a:extLst>
                <a:ext uri="{FF2B5EF4-FFF2-40B4-BE49-F238E27FC236}">
                  <a16:creationId xmlns:a16="http://schemas.microsoft.com/office/drawing/2014/main" id="{29E83920-2230-400B-B1F7-89E3DCC82FEB}"/>
                </a:ext>
              </a:extLst>
            </p:cNvPr>
            <p:cNvSpPr/>
            <p:nvPr/>
          </p:nvSpPr>
          <p:spPr>
            <a:xfrm>
              <a:off x="0" y="303489"/>
              <a:ext cx="6424493" cy="121920"/>
            </a:xfrm>
            <a:custGeom>
              <a:avLst/>
              <a:gdLst/>
              <a:ahLst/>
              <a:cxnLst/>
              <a:rect l="0" t="0" r="0" b="0"/>
              <a:pathLst>
                <a:path w="6424493" h="121920">
                  <a:moveTo>
                    <a:pt x="60957" y="0"/>
                  </a:moveTo>
                  <a:lnTo>
                    <a:pt x="6363536" y="0"/>
                  </a:lnTo>
                  <a:cubicBezTo>
                    <a:pt x="6397202" y="0"/>
                    <a:pt x="6424493" y="27294"/>
                    <a:pt x="6424493" y="60960"/>
                  </a:cubicBezTo>
                  <a:cubicBezTo>
                    <a:pt x="6424493" y="94628"/>
                    <a:pt x="6397202" y="121920"/>
                    <a:pt x="6363536" y="121920"/>
                  </a:cubicBezTo>
                  <a:lnTo>
                    <a:pt x="60957" y="121920"/>
                  </a:lnTo>
                  <a:cubicBezTo>
                    <a:pt x="27291" y="121920"/>
                    <a:pt x="0" y="94628"/>
                    <a:pt x="0" y="60960"/>
                  </a:cubicBezTo>
                  <a:cubicBezTo>
                    <a:pt x="0" y="27294"/>
                    <a:pt x="27291" y="0"/>
                    <a:pt x="60957" y="0"/>
                  </a:cubicBez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5A6ED7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s-CO"/>
            </a:p>
          </p:txBody>
        </p:sp>
        <p:sp>
          <p:nvSpPr>
            <p:cNvPr id="52" name="Shape 334">
              <a:extLst>
                <a:ext uri="{FF2B5EF4-FFF2-40B4-BE49-F238E27FC236}">
                  <a16:creationId xmlns:a16="http://schemas.microsoft.com/office/drawing/2014/main" id="{AF731B81-6FFD-46A4-B2D6-91DC5FE4F587}"/>
                </a:ext>
              </a:extLst>
            </p:cNvPr>
            <p:cNvSpPr/>
            <p:nvPr/>
          </p:nvSpPr>
          <p:spPr>
            <a:xfrm>
              <a:off x="2878157" y="0"/>
              <a:ext cx="668059" cy="668059"/>
            </a:xfrm>
            <a:custGeom>
              <a:avLst/>
              <a:gdLst/>
              <a:ahLst/>
              <a:cxnLst/>
              <a:rect l="0" t="0" r="0" b="0"/>
              <a:pathLst>
                <a:path w="668059" h="668059">
                  <a:moveTo>
                    <a:pt x="334030" y="0"/>
                  </a:moveTo>
                  <a:cubicBezTo>
                    <a:pt x="518509" y="0"/>
                    <a:pt x="668059" y="149550"/>
                    <a:pt x="668059" y="334029"/>
                  </a:cubicBezTo>
                  <a:cubicBezTo>
                    <a:pt x="668059" y="518509"/>
                    <a:pt x="518509" y="668059"/>
                    <a:pt x="334030" y="668059"/>
                  </a:cubicBezTo>
                  <a:cubicBezTo>
                    <a:pt x="149550" y="668059"/>
                    <a:pt x="0" y="518509"/>
                    <a:pt x="0" y="334029"/>
                  </a:cubicBezTo>
                  <a:cubicBezTo>
                    <a:pt x="0" y="149550"/>
                    <a:pt x="149550" y="0"/>
                    <a:pt x="334030" y="0"/>
                  </a:cubicBez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5A6ED7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s-CO" dirty="0"/>
            </a:p>
          </p:txBody>
        </p:sp>
        <p:sp>
          <p:nvSpPr>
            <p:cNvPr id="53" name="Rectangle 335">
              <a:extLst>
                <a:ext uri="{FF2B5EF4-FFF2-40B4-BE49-F238E27FC236}">
                  <a16:creationId xmlns:a16="http://schemas.microsoft.com/office/drawing/2014/main" id="{C56F7DDB-17E9-4CDD-9E19-85C44E941B3A}"/>
                </a:ext>
              </a:extLst>
            </p:cNvPr>
            <p:cNvSpPr/>
            <p:nvPr/>
          </p:nvSpPr>
          <p:spPr>
            <a:xfrm>
              <a:off x="3136721" y="220012"/>
              <a:ext cx="1067158" cy="415677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s-CO" sz="2100" dirty="0">
                  <a:solidFill>
                    <a:srgbClr val="FFFFFF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4</a:t>
              </a:r>
              <a:endParaRPr lang="es-CO" sz="1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</p:grpSp>
      <p:grpSp>
        <p:nvGrpSpPr>
          <p:cNvPr id="54" name="Group 2810">
            <a:extLst>
              <a:ext uri="{FF2B5EF4-FFF2-40B4-BE49-F238E27FC236}">
                <a16:creationId xmlns:a16="http://schemas.microsoft.com/office/drawing/2014/main" id="{E98DAD47-2F8B-4678-9C88-629196A330D8}"/>
              </a:ext>
            </a:extLst>
          </p:cNvPr>
          <p:cNvGrpSpPr/>
          <p:nvPr/>
        </p:nvGrpSpPr>
        <p:grpSpPr>
          <a:xfrm>
            <a:off x="562738" y="4409917"/>
            <a:ext cx="3862336" cy="668020"/>
            <a:chOff x="0" y="0"/>
            <a:chExt cx="6424493" cy="668059"/>
          </a:xfrm>
        </p:grpSpPr>
        <p:sp>
          <p:nvSpPr>
            <p:cNvPr id="55" name="Shape 333">
              <a:extLst>
                <a:ext uri="{FF2B5EF4-FFF2-40B4-BE49-F238E27FC236}">
                  <a16:creationId xmlns:a16="http://schemas.microsoft.com/office/drawing/2014/main" id="{83EF150B-EDF7-4935-8188-8425B20F702F}"/>
                </a:ext>
              </a:extLst>
            </p:cNvPr>
            <p:cNvSpPr/>
            <p:nvPr/>
          </p:nvSpPr>
          <p:spPr>
            <a:xfrm>
              <a:off x="0" y="303489"/>
              <a:ext cx="6424493" cy="121920"/>
            </a:xfrm>
            <a:custGeom>
              <a:avLst/>
              <a:gdLst/>
              <a:ahLst/>
              <a:cxnLst/>
              <a:rect l="0" t="0" r="0" b="0"/>
              <a:pathLst>
                <a:path w="6424493" h="121920">
                  <a:moveTo>
                    <a:pt x="60957" y="0"/>
                  </a:moveTo>
                  <a:lnTo>
                    <a:pt x="6363536" y="0"/>
                  </a:lnTo>
                  <a:cubicBezTo>
                    <a:pt x="6397202" y="0"/>
                    <a:pt x="6424493" y="27294"/>
                    <a:pt x="6424493" y="60960"/>
                  </a:cubicBezTo>
                  <a:cubicBezTo>
                    <a:pt x="6424493" y="94628"/>
                    <a:pt x="6397202" y="121920"/>
                    <a:pt x="6363536" y="121920"/>
                  </a:cubicBezTo>
                  <a:lnTo>
                    <a:pt x="60957" y="121920"/>
                  </a:lnTo>
                  <a:cubicBezTo>
                    <a:pt x="27291" y="121920"/>
                    <a:pt x="0" y="94628"/>
                    <a:pt x="0" y="60960"/>
                  </a:cubicBezTo>
                  <a:cubicBezTo>
                    <a:pt x="0" y="27294"/>
                    <a:pt x="27291" y="0"/>
                    <a:pt x="60957" y="0"/>
                  </a:cubicBez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5A6ED7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s-CO"/>
            </a:p>
          </p:txBody>
        </p:sp>
        <p:sp>
          <p:nvSpPr>
            <p:cNvPr id="56" name="Shape 334">
              <a:extLst>
                <a:ext uri="{FF2B5EF4-FFF2-40B4-BE49-F238E27FC236}">
                  <a16:creationId xmlns:a16="http://schemas.microsoft.com/office/drawing/2014/main" id="{9794066F-F503-495C-AC90-16B6473C25BB}"/>
                </a:ext>
              </a:extLst>
            </p:cNvPr>
            <p:cNvSpPr/>
            <p:nvPr/>
          </p:nvSpPr>
          <p:spPr>
            <a:xfrm>
              <a:off x="2878157" y="0"/>
              <a:ext cx="668059" cy="668059"/>
            </a:xfrm>
            <a:custGeom>
              <a:avLst/>
              <a:gdLst/>
              <a:ahLst/>
              <a:cxnLst/>
              <a:rect l="0" t="0" r="0" b="0"/>
              <a:pathLst>
                <a:path w="668059" h="668059">
                  <a:moveTo>
                    <a:pt x="334030" y="0"/>
                  </a:moveTo>
                  <a:cubicBezTo>
                    <a:pt x="518509" y="0"/>
                    <a:pt x="668059" y="149550"/>
                    <a:pt x="668059" y="334029"/>
                  </a:cubicBezTo>
                  <a:cubicBezTo>
                    <a:pt x="668059" y="518509"/>
                    <a:pt x="518509" y="668059"/>
                    <a:pt x="334030" y="668059"/>
                  </a:cubicBezTo>
                  <a:cubicBezTo>
                    <a:pt x="149550" y="668059"/>
                    <a:pt x="0" y="518509"/>
                    <a:pt x="0" y="334029"/>
                  </a:cubicBezTo>
                  <a:cubicBezTo>
                    <a:pt x="0" y="149550"/>
                    <a:pt x="149550" y="0"/>
                    <a:pt x="334030" y="0"/>
                  </a:cubicBez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5A6ED7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s-CO" dirty="0"/>
            </a:p>
          </p:txBody>
        </p:sp>
        <p:sp>
          <p:nvSpPr>
            <p:cNvPr id="57" name="Rectangle 335">
              <a:extLst>
                <a:ext uri="{FF2B5EF4-FFF2-40B4-BE49-F238E27FC236}">
                  <a16:creationId xmlns:a16="http://schemas.microsoft.com/office/drawing/2014/main" id="{CFB1CD83-BE9F-4DC0-ABBA-EB37F56FD74B}"/>
                </a:ext>
              </a:extLst>
            </p:cNvPr>
            <p:cNvSpPr/>
            <p:nvPr/>
          </p:nvSpPr>
          <p:spPr>
            <a:xfrm>
              <a:off x="3136721" y="220012"/>
              <a:ext cx="1067158" cy="415677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s-CO" sz="2100" dirty="0">
                  <a:solidFill>
                    <a:srgbClr val="FFFFFF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3</a:t>
              </a:r>
              <a:endParaRPr lang="es-CO" sz="1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</p:grpSp>
      <p:sp>
        <p:nvSpPr>
          <p:cNvPr id="59" name="CuadroTexto 58">
            <a:extLst>
              <a:ext uri="{FF2B5EF4-FFF2-40B4-BE49-F238E27FC236}">
                <a16:creationId xmlns:a16="http://schemas.microsoft.com/office/drawing/2014/main" id="{D9020067-0631-4F7C-9ACF-09141B4C9EC5}"/>
              </a:ext>
            </a:extLst>
          </p:cNvPr>
          <p:cNvSpPr txBox="1"/>
          <p:nvPr/>
        </p:nvSpPr>
        <p:spPr>
          <a:xfrm>
            <a:off x="649985" y="3190258"/>
            <a:ext cx="342207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MX" b="1" dirty="0"/>
              <a:t>Iluminación</a:t>
            </a:r>
          </a:p>
          <a:p>
            <a:pPr algn="just"/>
            <a:r>
              <a:rPr lang="es-MX" dirty="0"/>
              <a:t>Medición con luxómetro certificado ONAC para asegurar niveles de luz óptimos y prevenir fatiga visual.</a:t>
            </a:r>
            <a:endParaRPr lang="es-CO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693FB488-9519-4088-ACF2-2EBC549510E7}"/>
              </a:ext>
            </a:extLst>
          </p:cNvPr>
          <p:cNvSpPr txBox="1"/>
          <p:nvPr/>
        </p:nvSpPr>
        <p:spPr>
          <a:xfrm>
            <a:off x="5341478" y="3213367"/>
            <a:ext cx="311088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MX" b="1" dirty="0"/>
              <a:t>Ruido </a:t>
            </a:r>
          </a:p>
          <a:p>
            <a:pPr algn="just"/>
            <a:r>
              <a:rPr lang="es-MX" dirty="0"/>
              <a:t>Evaluación de niveles de ruido con sonómetro PCE-322A para proteger la audición de sus trabajadores.</a:t>
            </a:r>
            <a:endParaRPr lang="es-CO" dirty="0"/>
          </a:p>
        </p:txBody>
      </p:sp>
      <p:sp>
        <p:nvSpPr>
          <p:cNvPr id="63" name="CuadroTexto 62">
            <a:extLst>
              <a:ext uri="{FF2B5EF4-FFF2-40B4-BE49-F238E27FC236}">
                <a16:creationId xmlns:a16="http://schemas.microsoft.com/office/drawing/2014/main" id="{D25184E2-110C-4B75-A71E-CBF270C30400}"/>
              </a:ext>
            </a:extLst>
          </p:cNvPr>
          <p:cNvSpPr txBox="1"/>
          <p:nvPr/>
        </p:nvSpPr>
        <p:spPr>
          <a:xfrm>
            <a:off x="649985" y="5143624"/>
            <a:ext cx="361296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MX" b="1" dirty="0"/>
              <a:t>Dosimetría de Ruido Personal </a:t>
            </a:r>
            <a:r>
              <a:rPr lang="es-MX" dirty="0"/>
              <a:t>Monitoreo individualizado de la exposición al ruido con SL355 para una protección más efectiva.</a:t>
            </a:r>
            <a:endParaRPr lang="es-CO" dirty="0"/>
          </a:p>
        </p:txBody>
      </p:sp>
      <p:sp>
        <p:nvSpPr>
          <p:cNvPr id="65" name="CuadroTexto 64">
            <a:extLst>
              <a:ext uri="{FF2B5EF4-FFF2-40B4-BE49-F238E27FC236}">
                <a16:creationId xmlns:a16="http://schemas.microsoft.com/office/drawing/2014/main" id="{8E5F5EB2-F9EB-47B6-A57D-AE9E6B0C6224}"/>
              </a:ext>
            </a:extLst>
          </p:cNvPr>
          <p:cNvSpPr txBox="1"/>
          <p:nvPr/>
        </p:nvSpPr>
        <p:spPr>
          <a:xfrm>
            <a:off x="5312677" y="5026870"/>
            <a:ext cx="305258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MX" b="1" dirty="0"/>
              <a:t>Estrés Térmico </a:t>
            </a:r>
          </a:p>
          <a:p>
            <a:pPr algn="just"/>
            <a:r>
              <a:rPr lang="es-MX" dirty="0"/>
              <a:t>Medición con equipo Extech HT30 (TGBH) para prevenir riesgos asociados a temperaturas extremas.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68269269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pull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Conector recto 8"/>
          <p:cNvCxnSpPr/>
          <p:nvPr/>
        </p:nvCxnSpPr>
        <p:spPr>
          <a:xfrm flipH="1">
            <a:off x="4" y="6502401"/>
            <a:ext cx="7505696" cy="0"/>
          </a:xfrm>
          <a:prstGeom prst="line">
            <a:avLst/>
          </a:prstGeom>
          <a:ln>
            <a:solidFill>
              <a:srgbClr val="92010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cto 9"/>
          <p:cNvCxnSpPr/>
          <p:nvPr/>
        </p:nvCxnSpPr>
        <p:spPr>
          <a:xfrm flipH="1">
            <a:off x="2" y="6553202"/>
            <a:ext cx="7505698" cy="0"/>
          </a:xfrm>
          <a:prstGeom prst="line">
            <a:avLst/>
          </a:prstGeom>
          <a:ln>
            <a:solidFill>
              <a:srgbClr val="0C0F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Imagen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7021" y="5855054"/>
            <a:ext cx="1449635" cy="877195"/>
          </a:xfrm>
          <a:prstGeom prst="rect">
            <a:avLst/>
          </a:prstGeom>
        </p:spPr>
      </p:pic>
      <p:pic>
        <p:nvPicPr>
          <p:cNvPr id="2" name="Imagen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609" y="118408"/>
            <a:ext cx="3068701" cy="2042081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3021" y="201235"/>
            <a:ext cx="2428875" cy="1876425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pic>
        <p:nvPicPr>
          <p:cNvPr id="12" name="Imagen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8206" y="2360933"/>
            <a:ext cx="3049104" cy="2029040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pic>
        <p:nvPicPr>
          <p:cNvPr id="14" name="Imagen 1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609" y="4584077"/>
            <a:ext cx="3068701" cy="1724220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pic>
        <p:nvPicPr>
          <p:cNvPr id="17" name="Imagen 1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9283" y="2510479"/>
            <a:ext cx="3156352" cy="3344575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</p:spTree>
    <p:extLst>
      <p:ext uri="{BB962C8B-B14F-4D97-AF65-F5344CB8AC3E}">
        <p14:creationId xmlns:p14="http://schemas.microsoft.com/office/powerpoint/2010/main" val="4053926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NUESTROS CLIENTES</a:t>
            </a:r>
          </a:p>
        </p:txBody>
      </p:sp>
      <p:cxnSp>
        <p:nvCxnSpPr>
          <p:cNvPr id="5" name="Conector recto 4"/>
          <p:cNvCxnSpPr/>
          <p:nvPr/>
        </p:nvCxnSpPr>
        <p:spPr>
          <a:xfrm flipH="1">
            <a:off x="2" y="6553202"/>
            <a:ext cx="7505698" cy="0"/>
          </a:xfrm>
          <a:prstGeom prst="line">
            <a:avLst/>
          </a:prstGeom>
          <a:ln>
            <a:solidFill>
              <a:srgbClr val="0C0F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7021" y="5840064"/>
            <a:ext cx="1449635" cy="877195"/>
          </a:xfrm>
          <a:prstGeom prst="rect">
            <a:avLst/>
          </a:prstGeom>
        </p:spPr>
      </p:pic>
      <p:cxnSp>
        <p:nvCxnSpPr>
          <p:cNvPr id="6" name="Conector recto 5"/>
          <p:cNvCxnSpPr/>
          <p:nvPr/>
        </p:nvCxnSpPr>
        <p:spPr>
          <a:xfrm flipH="1">
            <a:off x="4" y="6502401"/>
            <a:ext cx="7505696" cy="0"/>
          </a:xfrm>
          <a:prstGeom prst="line">
            <a:avLst/>
          </a:prstGeom>
          <a:ln>
            <a:solidFill>
              <a:srgbClr val="92010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Imagen 6" descr="C:\Users\Lorena Fontecha\AppData\Local\Microsoft\Windows\INetCacheContent.Word\img.dextera.png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755" y="4341418"/>
            <a:ext cx="2462591" cy="1087286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Imagen 7"/>
          <p:cNvPicPr/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7558" y="4980254"/>
            <a:ext cx="2249995" cy="693553"/>
          </a:xfrm>
          <a:prstGeom prst="rect">
            <a:avLst/>
          </a:prstGeom>
        </p:spPr>
      </p:pic>
      <p:pic>
        <p:nvPicPr>
          <p:cNvPr id="9" name="Imagen 8"/>
          <p:cNvPicPr/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8383" y="2392168"/>
            <a:ext cx="2429227" cy="8632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Imagen 9" descr="C:\Users\Andres.quintero\AppData\Local\Microsoft\Windows\Temporary Internet Files\Content.IE5\BOPFYBTF\RGA Soluciones Ltda - Pendón 04.png"/>
          <p:cNvPicPr/>
          <p:nvPr/>
        </p:nvPicPr>
        <p:blipFill rotWithShape="1">
          <a:blip r:embed="rId6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01" t="4237" r="1675" b="2331"/>
          <a:stretch/>
        </p:blipFill>
        <p:spPr bwMode="auto">
          <a:xfrm>
            <a:off x="2101664" y="2896865"/>
            <a:ext cx="2714712" cy="1329627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1" name="2 Imagen" descr="C:\Users\Andrea\Downloads\LOGO GOMEZ 1.gif"/>
          <p:cNvPicPr/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547" y="3227795"/>
            <a:ext cx="1644109" cy="11771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" name="Picture 1" descr="LOGO MEZZA 21 ABRIL DE 2014"/>
          <p:cNvPicPr>
            <a:picLocks noChangeAspect="1" noChangeArrowheads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4854" y="4344985"/>
            <a:ext cx="1951774" cy="7589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3" name="Tabla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4268774"/>
              </p:ext>
            </p:extLst>
          </p:nvPr>
        </p:nvGraphicFramePr>
        <p:xfrm>
          <a:off x="3446014" y="2425295"/>
          <a:ext cx="2785372" cy="73958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853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3958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806065" algn="ctr"/>
                          <a:tab pos="5612130" algn="r"/>
                        </a:tabLst>
                      </a:pPr>
                      <a:r>
                        <a:rPr lang="es-ES_tradnl" sz="500" dirty="0">
                          <a:effectLst/>
                        </a:rPr>
                        <a:t> </a:t>
                      </a:r>
                      <a:endParaRPr lang="es-CO" sz="1000" dirty="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  <a:tabLst>
                          <a:tab pos="2806065" algn="ctr"/>
                          <a:tab pos="5612130" algn="r"/>
                        </a:tabLst>
                      </a:pPr>
                      <a:r>
                        <a:rPr lang="es-ES_tradnl" sz="900" dirty="0">
                          <a:effectLst/>
                        </a:rPr>
                        <a:t> </a:t>
                      </a:r>
                      <a:endParaRPr lang="es-CO" sz="1000" dirty="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  <a:tabLst>
                          <a:tab pos="2806065" algn="ctr"/>
                          <a:tab pos="5612130" algn="r"/>
                        </a:tabLst>
                      </a:pPr>
                      <a:r>
                        <a:rPr lang="es-ES_tradnl" sz="900" dirty="0">
                          <a:effectLst/>
                        </a:rPr>
                        <a:t> </a:t>
                      </a:r>
                      <a:endParaRPr lang="es-CO" sz="1000" dirty="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  <a:tabLst>
                          <a:tab pos="2806065" algn="ctr"/>
                          <a:tab pos="5612130" algn="r"/>
                        </a:tabLst>
                      </a:pPr>
                      <a:r>
                        <a:rPr lang="es-ES_tradnl" sz="1100" b="1" dirty="0">
                          <a:effectLst/>
                          <a:latin typeface="Arial"/>
                          <a:cs typeface="Arial"/>
                        </a:rPr>
                        <a:t>SALGADO, MELÉNDEZ Y ASOCIADOS INGENIEROS CONSULTORES</a:t>
                      </a:r>
                      <a:endParaRPr lang="es-CO" sz="1100" b="1" dirty="0">
                        <a:effectLst/>
                        <a:latin typeface="Arial"/>
                        <a:ea typeface="Times New Roman" panose="02020603050405020304" pitchFamily="18" charset="0"/>
                        <a:cs typeface="Arial"/>
                      </a:endParaRPr>
                    </a:p>
                  </a:txBody>
                  <a:tcPr marL="44450" marR="4445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4" name="Objeto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90506392"/>
              </p:ext>
            </p:extLst>
          </p:nvPr>
        </p:nvGraphicFramePr>
        <p:xfrm>
          <a:off x="4224270" y="2424920"/>
          <a:ext cx="1937102" cy="3988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n" r:id="rId9" imgW="899160" imgH="338328" progId="Word.Picture.8">
                  <p:embed/>
                </p:oleObj>
              </mc:Choice>
              <mc:Fallback>
                <p:oleObj name="Imagen" r:id="rId9" imgW="899160" imgH="338328" progId="Word.Picture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24270" y="2424920"/>
                        <a:ext cx="1937102" cy="39888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Agrupar 2"/>
          <p:cNvGrpSpPr/>
          <p:nvPr/>
        </p:nvGrpSpPr>
        <p:grpSpPr>
          <a:xfrm>
            <a:off x="121527" y="2284188"/>
            <a:ext cx="3257188" cy="719325"/>
            <a:chOff x="269782" y="2794337"/>
            <a:chExt cx="3257188" cy="719325"/>
          </a:xfrm>
        </p:grpSpPr>
        <p:pic>
          <p:nvPicPr>
            <p:cNvPr id="15" name="Imagen 14" descr="Descripción: C:\Users\Compaq1\AppData\Local\Microsoft\Windows\Temporary Internet Files\Content.Outlook\AFKN12UK\Lg OMC rgb+ (2).png"/>
            <p:cNvPicPr/>
            <p:nvPr/>
          </p:nvPicPr>
          <p:blipFill>
            <a:blip r:embed="rId11" cstate="print"/>
            <a:srcRect/>
            <a:stretch>
              <a:fillRect/>
            </a:stretch>
          </p:blipFill>
          <p:spPr bwMode="auto">
            <a:xfrm>
              <a:off x="1852371" y="2794337"/>
              <a:ext cx="1674599" cy="685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6" name="Imagen 15" descr="Captura de pantalla 2017-08-10 a las 6.51.34 p.m..png"/>
            <p:cNvPicPr/>
            <p:nvPr/>
          </p:nvPicPr>
          <p:blipFill>
            <a:blip r:embed="rId1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610" t="8000" r="38828" b="76750"/>
            <a:stretch>
              <a:fillRect/>
            </a:stretch>
          </p:blipFill>
          <p:spPr bwMode="auto">
            <a:xfrm>
              <a:off x="269782" y="2861384"/>
              <a:ext cx="1582589" cy="65227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1" name="Rectangle 6"/>
          <p:cNvSpPr>
            <a:spLocks noChangeArrowheads="1"/>
          </p:cNvSpPr>
          <p:nvPr/>
        </p:nvSpPr>
        <p:spPr bwMode="auto">
          <a:xfrm>
            <a:off x="2762294" y="415836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CO"/>
          </a:p>
        </p:txBody>
      </p:sp>
      <p:pic>
        <p:nvPicPr>
          <p:cNvPr id="25" name="Imagen 24"/>
          <p:cNvPicPr>
            <a:picLocks noChangeAspect="1"/>
          </p:cNvPicPr>
          <p:nvPr/>
        </p:nvPicPr>
        <p:blipFill>
          <a:blip r:embed="rId1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5521" y="3448877"/>
            <a:ext cx="2657475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49" name="Picture 25" descr="finmaq">
            <a:extLst>
              <a:ext uri="{FF2B5EF4-FFF2-40B4-BE49-F238E27FC236}">
                <a16:creationId xmlns:a16="http://schemas.microsoft.com/office/drawing/2014/main" id="{131CFFDE-4193-4CA1-8E9F-EF13642E09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319" y="5344377"/>
            <a:ext cx="2670975" cy="1124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2" name="Agrupar 18">
            <a:extLst>
              <a:ext uri="{FF2B5EF4-FFF2-40B4-BE49-F238E27FC236}">
                <a16:creationId xmlns:a16="http://schemas.microsoft.com/office/drawing/2014/main" id="{FAD7645C-5D35-405C-AF77-4B43CE22AFAC}"/>
              </a:ext>
            </a:extLst>
          </p:cNvPr>
          <p:cNvGrpSpPr/>
          <p:nvPr/>
        </p:nvGrpSpPr>
        <p:grpSpPr>
          <a:xfrm>
            <a:off x="2663871" y="5262347"/>
            <a:ext cx="2896391" cy="1081649"/>
            <a:chOff x="457199" y="4948333"/>
            <a:chExt cx="2896391" cy="1081649"/>
          </a:xfrm>
        </p:grpSpPr>
        <p:pic>
          <p:nvPicPr>
            <p:cNvPr id="23" name="1 Imagen">
              <a:extLst>
                <a:ext uri="{FF2B5EF4-FFF2-40B4-BE49-F238E27FC236}">
                  <a16:creationId xmlns:a16="http://schemas.microsoft.com/office/drawing/2014/main" id="{2AE1BB7F-EEC1-46FF-9648-3C3C3243F189}"/>
                </a:ext>
              </a:extLst>
            </p:cNvPr>
            <p:cNvPicPr/>
            <p:nvPr/>
          </p:nvPicPr>
          <p:blipFill>
            <a:blip r:embed="rId15" cstate="print"/>
            <a:srcRect/>
            <a:stretch>
              <a:fillRect/>
            </a:stretch>
          </p:blipFill>
          <p:spPr bwMode="auto">
            <a:xfrm>
              <a:off x="1239295" y="4948333"/>
              <a:ext cx="1226152" cy="651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4" name="CuadroTexto 23">
              <a:extLst>
                <a:ext uri="{FF2B5EF4-FFF2-40B4-BE49-F238E27FC236}">
                  <a16:creationId xmlns:a16="http://schemas.microsoft.com/office/drawing/2014/main" id="{C77C6BE2-863A-4584-BBA4-A252F905A60D}"/>
                </a:ext>
              </a:extLst>
            </p:cNvPr>
            <p:cNvSpPr txBox="1"/>
            <p:nvPr/>
          </p:nvSpPr>
          <p:spPr>
            <a:xfrm>
              <a:off x="457199" y="5629872"/>
              <a:ext cx="289639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000" b="1" dirty="0">
                  <a:latin typeface="Arial"/>
                  <a:cs typeface="Arial"/>
                </a:rPr>
                <a:t>FUNDACIÓN BOGOTÁ TENNIS CLUB CAMPESTRE</a:t>
              </a:r>
            </a:p>
          </p:txBody>
        </p:sp>
      </p:grpSp>
      <p:pic>
        <p:nvPicPr>
          <p:cNvPr id="27" name="Imagen 69" descr="Descripción: https://lh5.googleusercontent.com/dJxWNNa5UaoxKkouuyw3do-RezqDSQed5YHiZLB_XxFjQi0LUSJWfolsn5jLgAtFFtnBnIYc_wwCAzAlj_1s1NHvbvVyCcDTejs6kufhah1UcAGA1zicZx_YNwrxq2YWMoaIDwa5">
            <a:extLst>
              <a:ext uri="{FF2B5EF4-FFF2-40B4-BE49-F238E27FC236}">
                <a16:creationId xmlns:a16="http://schemas.microsoft.com/office/drawing/2014/main" id="{52E2A17F-0DE2-46BB-AE45-3685C7BB98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2873" y="4314811"/>
            <a:ext cx="1009650" cy="638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Imagen 27" descr="Logo Final Colegio Militar-01">
            <a:extLst>
              <a:ext uri="{FF2B5EF4-FFF2-40B4-BE49-F238E27FC236}">
                <a16:creationId xmlns:a16="http://schemas.microsoft.com/office/drawing/2014/main" id="{659A0B0B-07C9-4CA5-A231-FD5EA67D6607}"/>
              </a:ext>
            </a:extLst>
          </p:cNvPr>
          <p:cNvPicPr/>
          <p:nvPr/>
        </p:nvPicPr>
        <p:blipFill>
          <a:blip r:embed="rId17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502" t="6546" r="12766" b="7301"/>
          <a:stretch>
            <a:fillRect/>
          </a:stretch>
        </p:blipFill>
        <p:spPr bwMode="auto">
          <a:xfrm>
            <a:off x="5355792" y="5183124"/>
            <a:ext cx="1454403" cy="1201486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Rectangle 7">
            <a:extLst>
              <a:ext uri="{FF2B5EF4-FFF2-40B4-BE49-F238E27FC236}">
                <a16:creationId xmlns:a16="http://schemas.microsoft.com/office/drawing/2014/main" id="{75F0BA3D-D515-4497-9F30-3547875300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3734" y="4814486"/>
            <a:ext cx="1240560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_tradnl" sz="1200" b="1" i="0" u="none" strike="noStrike" cap="none" normalizeH="0" baseline="0" dirty="0">
                <a:ln>
                  <a:noFill/>
                </a:ln>
                <a:solidFill>
                  <a:srgbClr val="0000CC"/>
                </a:solidFill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SLYN sas</a:t>
            </a:r>
            <a:r>
              <a:rPr kumimoji="0" lang="es-CO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s-CO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8" name="Imagen 17">
            <a:extLst>
              <a:ext uri="{FF2B5EF4-FFF2-40B4-BE49-F238E27FC236}">
                <a16:creationId xmlns:a16="http://schemas.microsoft.com/office/drawing/2014/main" id="{D93B6DA1-D9B8-4DC0-B549-ACA8C5A67A3C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486182" y="4049282"/>
            <a:ext cx="1581371" cy="847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60893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NUESTROS CLIENTES</a:t>
            </a:r>
          </a:p>
        </p:txBody>
      </p:sp>
      <p:sp>
        <p:nvSpPr>
          <p:cNvPr id="9" name="Rectángulo 8"/>
          <p:cNvSpPr/>
          <p:nvPr/>
        </p:nvSpPr>
        <p:spPr>
          <a:xfrm>
            <a:off x="3418300" y="4952216"/>
            <a:ext cx="2932085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CO" sz="1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  <a:reflection blurRad="6350" stA="55000" endA="300" endPos="45500" dir="5400000" sy="-100000" algn="bl" rotWithShape="0"/>
                </a:effectLst>
                <a:latin typeface="Arial" panose="020B0604020202020204" pitchFamily="34" charset="0"/>
                <a:ea typeface="Adobe Kaiti Std R" panose="02020400000000000000" pitchFamily="18" charset="-128"/>
                <a:cs typeface="Arial" panose="020B0604020202020204" pitchFamily="34" charset="0"/>
              </a:rPr>
              <a:t>PH- CONJUNTO LAS TERRAZAS</a:t>
            </a:r>
            <a:endParaRPr lang="es-CO" sz="1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10" name="Rectángulo 9"/>
          <p:cNvSpPr/>
          <p:nvPr/>
        </p:nvSpPr>
        <p:spPr>
          <a:xfrm>
            <a:off x="1171133" y="4252941"/>
            <a:ext cx="3400867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CO" sz="1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  <a:reflection blurRad="6350" stA="55000" endA="300" endPos="45500" dir="5400000" sy="-100000" algn="bl" rotWithShape="0"/>
                </a:effectLst>
                <a:latin typeface="Arial" panose="020B0604020202020204" pitchFamily="34" charset="0"/>
                <a:ea typeface="Adobe Kaiti Std R" panose="02020400000000000000" pitchFamily="18" charset="-128"/>
                <a:cs typeface="Arial" panose="020B0604020202020204" pitchFamily="34" charset="0"/>
              </a:rPr>
              <a:t>PH- MULTIFAMILIAR BUGANVILLA 126</a:t>
            </a:r>
            <a:endParaRPr lang="es-CO" sz="1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11" name="Rectángulo 10"/>
          <p:cNvSpPr/>
          <p:nvPr/>
        </p:nvSpPr>
        <p:spPr>
          <a:xfrm>
            <a:off x="5393187" y="4252940"/>
            <a:ext cx="2767681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CO" sz="1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  <a:reflection blurRad="6350" stA="55000" endA="300" endPos="45500" dir="5400000" sy="-100000" algn="bl" rotWithShape="0"/>
                </a:effectLst>
                <a:latin typeface="Arial" panose="020B0604020202020204" pitchFamily="34" charset="0"/>
                <a:ea typeface="Adobe Kaiti Std R" panose="02020400000000000000" pitchFamily="18" charset="-128"/>
                <a:cs typeface="Arial" panose="020B0604020202020204" pitchFamily="34" charset="0"/>
              </a:rPr>
              <a:t>PH-MULTIFAMILIAR EL SAUCE</a:t>
            </a:r>
            <a:endParaRPr lang="es-CO" sz="1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  <a:reflection blurRad="6350" stA="55000" endA="300" endPos="45500" dir="5400000" sy="-100000" algn="bl" rotWithShape="0"/>
              </a:effectLst>
            </a:endParaRPr>
          </a:p>
        </p:txBody>
      </p:sp>
      <p:grpSp>
        <p:nvGrpSpPr>
          <p:cNvPr id="14" name="Grupo 13"/>
          <p:cNvGrpSpPr/>
          <p:nvPr/>
        </p:nvGrpSpPr>
        <p:grpSpPr>
          <a:xfrm>
            <a:off x="4" y="5840064"/>
            <a:ext cx="9076652" cy="877195"/>
            <a:chOff x="4" y="5840064"/>
            <a:chExt cx="9076652" cy="877195"/>
          </a:xfrm>
        </p:grpSpPr>
        <p:pic>
          <p:nvPicPr>
            <p:cNvPr id="15" name="Imagen 1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627021" y="5840064"/>
              <a:ext cx="1449635" cy="877195"/>
            </a:xfrm>
            <a:prstGeom prst="rect">
              <a:avLst/>
            </a:prstGeom>
          </p:spPr>
        </p:pic>
        <p:cxnSp>
          <p:nvCxnSpPr>
            <p:cNvPr id="16" name="Conector recto 15"/>
            <p:cNvCxnSpPr/>
            <p:nvPr/>
          </p:nvCxnSpPr>
          <p:spPr>
            <a:xfrm flipH="1">
              <a:off x="4" y="6502401"/>
              <a:ext cx="7505696" cy="0"/>
            </a:xfrm>
            <a:prstGeom prst="line">
              <a:avLst/>
            </a:prstGeom>
            <a:ln>
              <a:solidFill>
                <a:srgbClr val="92010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7" name="Conector recto 16"/>
          <p:cNvCxnSpPr/>
          <p:nvPr/>
        </p:nvCxnSpPr>
        <p:spPr>
          <a:xfrm flipH="1">
            <a:off x="2" y="6553202"/>
            <a:ext cx="7505698" cy="0"/>
          </a:xfrm>
          <a:prstGeom prst="line">
            <a:avLst/>
          </a:prstGeom>
          <a:ln>
            <a:solidFill>
              <a:srgbClr val="0C0F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8" name="Imagen 17">
            <a:extLst>
              <a:ext uri="{FF2B5EF4-FFF2-40B4-BE49-F238E27FC236}">
                <a16:creationId xmlns:a16="http://schemas.microsoft.com/office/drawing/2014/main" id="{D86F9B6A-CB0E-412C-BDEE-5F1A080A7A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052" y="1845710"/>
            <a:ext cx="3548281" cy="1952094"/>
          </a:xfrm>
          <a:prstGeom prst="rect">
            <a:avLst/>
          </a:prstGeom>
        </p:spPr>
      </p:pic>
      <p:pic>
        <p:nvPicPr>
          <p:cNvPr id="20" name="Imagen 19">
            <a:extLst>
              <a:ext uri="{FF2B5EF4-FFF2-40B4-BE49-F238E27FC236}">
                <a16:creationId xmlns:a16="http://schemas.microsoft.com/office/drawing/2014/main" id="{9225D7DB-9B0A-4EEF-9973-DDD883C709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35406" y="1839747"/>
            <a:ext cx="4132739" cy="890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53102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Resultado de imagen para contactenos icono rojo"/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CrisscrossEtching trans="31000" pressure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5273" y="3071915"/>
            <a:ext cx="4953454" cy="36162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CONTACTENOS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740568" y="2030518"/>
            <a:ext cx="7662864" cy="3267169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s-CO" sz="1800" b="1" dirty="0">
                <a:solidFill>
                  <a:schemeClr val="tx1"/>
                </a:solidFill>
              </a:rPr>
              <a:t> CALLE 6 # 2B-45 CHIA -CUNDINAMARCA-COLOMBIA.</a:t>
            </a:r>
          </a:p>
          <a:p>
            <a:pPr marL="0" indent="0" algn="ctr">
              <a:buNone/>
            </a:pPr>
            <a:r>
              <a:rPr lang="es-CO" sz="1800" b="1" dirty="0">
                <a:solidFill>
                  <a:schemeClr val="tx1"/>
                </a:solidFill>
              </a:rPr>
              <a:t>Correo electrónico: </a:t>
            </a:r>
          </a:p>
          <a:p>
            <a:pPr marL="0" indent="0" algn="ctr">
              <a:buNone/>
            </a:pPr>
            <a:r>
              <a:rPr lang="es-CO" sz="1800" b="1" u="sng" dirty="0">
                <a:solidFill>
                  <a:schemeClr val="tx1"/>
                </a:solidFill>
                <a:hlinkClick r:id="rId5"/>
              </a:rPr>
              <a:t>gerencia@mgconsultoressas.com</a:t>
            </a:r>
            <a:endParaRPr lang="es-CO" sz="1800" b="1" u="sng" dirty="0">
              <a:solidFill>
                <a:schemeClr val="tx1"/>
              </a:solidFill>
            </a:endParaRPr>
          </a:p>
          <a:p>
            <a:pPr marL="0" indent="0" algn="ctr">
              <a:buNone/>
            </a:pPr>
            <a:r>
              <a:rPr lang="es-CO" sz="1800" b="1" u="sng" dirty="0">
                <a:solidFill>
                  <a:schemeClr val="tx1"/>
                </a:solidFill>
                <a:hlinkClick r:id="rId6"/>
              </a:rPr>
              <a:t>comercial@mgconsultoressas.com</a:t>
            </a:r>
            <a:endParaRPr lang="es-CO" sz="1800" b="1" u="sng" dirty="0">
              <a:solidFill>
                <a:schemeClr val="tx1"/>
              </a:solidFill>
            </a:endParaRPr>
          </a:p>
          <a:p>
            <a:pPr marL="0" indent="0" algn="ctr">
              <a:buNone/>
            </a:pPr>
            <a:r>
              <a:rPr lang="es-CO" sz="1800" b="1" u="sng" dirty="0">
                <a:solidFill>
                  <a:schemeClr val="tx1"/>
                </a:solidFill>
              </a:rPr>
              <a:t>WEB: </a:t>
            </a:r>
            <a:r>
              <a:rPr lang="es-CO" sz="1800" b="1" u="sng" dirty="0">
                <a:solidFill>
                  <a:schemeClr val="tx1"/>
                </a:solidFill>
                <a:hlinkClick r:id="rId7"/>
              </a:rPr>
              <a:t>www.mgconsultoressas.com</a:t>
            </a:r>
            <a:endParaRPr lang="es-CO" sz="1800" b="1" u="sng" dirty="0">
              <a:solidFill>
                <a:schemeClr val="tx1"/>
              </a:solidFill>
            </a:endParaRPr>
          </a:p>
          <a:p>
            <a:pPr marL="0" indent="0" algn="ctr">
              <a:buNone/>
            </a:pPr>
            <a:r>
              <a:rPr lang="es-CO" sz="2400" b="1" u="sng" dirty="0" err="1">
                <a:solidFill>
                  <a:schemeClr val="tx1"/>
                </a:solidFill>
              </a:rPr>
              <a:t>Cel</a:t>
            </a:r>
            <a:r>
              <a:rPr lang="es-CO" sz="2400" b="1" u="sng" dirty="0">
                <a:solidFill>
                  <a:schemeClr val="tx1"/>
                </a:solidFill>
              </a:rPr>
              <a:t>: 3202366168-3143717690</a:t>
            </a:r>
            <a:endParaRPr lang="es-CO" sz="2400" dirty="0">
              <a:solidFill>
                <a:schemeClr val="tx1"/>
              </a:solidFill>
            </a:endParaRPr>
          </a:p>
          <a:p>
            <a:pPr marL="0" indent="0" algn="ctr">
              <a:buNone/>
            </a:pPr>
            <a:endParaRPr lang="es-CO" sz="1800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05700" y="5840064"/>
            <a:ext cx="1449635" cy="877195"/>
          </a:xfrm>
          <a:prstGeom prst="rect">
            <a:avLst/>
          </a:prstGeom>
        </p:spPr>
      </p:pic>
      <p:cxnSp>
        <p:nvCxnSpPr>
          <p:cNvPr id="5" name="Conector recto 4"/>
          <p:cNvCxnSpPr/>
          <p:nvPr/>
        </p:nvCxnSpPr>
        <p:spPr>
          <a:xfrm flipH="1">
            <a:off x="-35591" y="6553202"/>
            <a:ext cx="7505698" cy="0"/>
          </a:xfrm>
          <a:prstGeom prst="line">
            <a:avLst/>
          </a:prstGeom>
          <a:ln>
            <a:solidFill>
              <a:srgbClr val="0C0F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ector recto 5"/>
          <p:cNvCxnSpPr/>
          <p:nvPr/>
        </p:nvCxnSpPr>
        <p:spPr>
          <a:xfrm flipH="1">
            <a:off x="4" y="6484490"/>
            <a:ext cx="7505696" cy="0"/>
          </a:xfrm>
          <a:prstGeom prst="line">
            <a:avLst/>
          </a:prstGeom>
          <a:ln>
            <a:solidFill>
              <a:srgbClr val="92010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415934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Génesis">
  <a:themeElements>
    <a:clrScheme name="Génesis">
      <a:dk1>
        <a:sysClr val="windowText" lastClr="000000"/>
      </a:dk1>
      <a:lt1>
        <a:sysClr val="window" lastClr="FFFFFF"/>
      </a:lt1>
      <a:dk2>
        <a:srgbClr val="465466"/>
      </a:dk2>
      <a:lt2>
        <a:srgbClr val="BBD7F8"/>
      </a:lt2>
      <a:accent1>
        <a:srgbClr val="80B606"/>
      </a:accent1>
      <a:accent2>
        <a:srgbClr val="E29F1D"/>
      </a:accent2>
      <a:accent3>
        <a:srgbClr val="2397E2"/>
      </a:accent3>
      <a:accent4>
        <a:srgbClr val="35ACA2"/>
      </a:accent4>
      <a:accent5>
        <a:srgbClr val="5430BB"/>
      </a:accent5>
      <a:accent6>
        <a:srgbClr val="8D34E0"/>
      </a:accent6>
      <a:hlink>
        <a:srgbClr val="00B0F0"/>
      </a:hlink>
      <a:folHlink>
        <a:srgbClr val="0070C0"/>
      </a:folHlink>
    </a:clrScheme>
    <a:fontScheme name="Génesis">
      <a:majorFont>
        <a:latin typeface="Calisto MT"/>
        <a:ea typeface=""/>
        <a:cs typeface=""/>
        <a:font script="Jpan" typeface="ＭＳ 明朝"/>
      </a:majorFont>
      <a:minorFont>
        <a:latin typeface="Calisto MT"/>
        <a:ea typeface=""/>
        <a:cs typeface=""/>
        <a:font script="Jpan" typeface="ＭＳ 明朝"/>
      </a:minorFont>
    </a:fontScheme>
    <a:fmtScheme name="Génesis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00000"/>
                <a:greenMod val="110000"/>
              </a:schemeClr>
            </a:gs>
            <a:gs pos="75000">
              <a:schemeClr val="phClr">
                <a:tint val="40000"/>
                <a:satMod val="150000"/>
                <a:redMod val="100000"/>
                <a:blueMod val="100000"/>
              </a:schemeClr>
            </a:gs>
            <a:gs pos="100000">
              <a:schemeClr val="phClr">
                <a:tint val="60000"/>
                <a:satMod val="120000"/>
                <a:redMod val="100000"/>
                <a:blueMod val="100000"/>
              </a:schemeClr>
            </a:gs>
          </a:gsLst>
          <a:path path="circle">
            <a:fillToRect l="25000" t="25000" r="5000" b="5000"/>
          </a:path>
        </a:gradFill>
        <a:gradFill rotWithShape="1">
          <a:gsLst>
            <a:gs pos="0">
              <a:schemeClr val="phClr">
                <a:tint val="50000"/>
                <a:shade val="100000"/>
                <a:alpha val="100000"/>
                <a:satMod val="150000"/>
              </a:schemeClr>
            </a:gs>
            <a:gs pos="40000">
              <a:schemeClr val="phClr">
                <a:tint val="70000"/>
                <a:shade val="100000"/>
                <a:alpha val="100000"/>
                <a:satMod val="150000"/>
              </a:schemeClr>
            </a:gs>
            <a:gs pos="100000">
              <a:schemeClr val="phClr">
                <a:shade val="90000"/>
                <a:satMod val="11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88900" dist="50800" dir="11400000" sx="102000" sy="101000" algn="tl" rotWithShape="0">
              <a:srgbClr val="000000">
                <a:alpha val="35000"/>
              </a:srgbClr>
            </a:outerShdw>
          </a:effectLst>
          <a:scene3d>
            <a:camera prst="perspectiveFront" fov="4800000"/>
            <a:lightRig rig="morning" dir="tl"/>
          </a:scene3d>
          <a:sp3d prstMaterial="softmetal">
            <a:bevelT w="0" h="0"/>
          </a:sp3d>
        </a:effectStyle>
        <a:effectStyle>
          <a:effectLst>
            <a:innerShdw blurRad="50800" dist="25400" dir="13500000">
              <a:srgbClr val="000000">
                <a:alpha val="75000"/>
              </a:srgbClr>
            </a:innerShdw>
            <a:reflection blurRad="101600" stA="40000" endPos="50000" dist="63500" dir="5400000" fadeDir="7200000" sy="-100000" kx="300000" rotWithShape="0"/>
          </a:effectLst>
          <a:scene3d>
            <a:camera prst="orthographicFront">
              <a:rot lat="0" lon="0" rev="0"/>
            </a:camera>
            <a:lightRig rig="chilly" dir="tr">
              <a:rot lat="0" lon="0" rev="1200000"/>
            </a:lightRig>
          </a:scene3d>
          <a:sp3d prstMaterial="plastic">
            <a:bevelT w="0" h="0"/>
          </a:sp3d>
        </a:effectStyle>
      </a:effectStyleLst>
      <a:bgFillStyleLst>
        <a:blipFill rotWithShape="1">
          <a:blip xmlns:r="http://schemas.openxmlformats.org/officeDocument/2006/relationships" r:embed="rId1"/>
          <a:stretch/>
        </a:blipFill>
        <a:blipFill rotWithShape="1">
          <a:blip xmlns:r="http://schemas.openxmlformats.org/officeDocument/2006/relationships" r:embed="rId2"/>
          <a:stretch/>
        </a:blipFill>
        <a:blipFill rotWithShape="1">
          <a:blip xmlns:r="http://schemas.openxmlformats.org/officeDocument/2006/relationships" r:embed="rId3"/>
          <a:stretch/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50709</TotalTime>
  <Words>1103</Words>
  <Application>Microsoft Office PowerPoint</Application>
  <PresentationFormat>Presentación en pantalla (4:3)</PresentationFormat>
  <Paragraphs>96</Paragraphs>
  <Slides>16</Slides>
  <Notes>10</Notes>
  <HiddenSlides>0</HiddenSlides>
  <MMClips>0</MMClips>
  <ScaleCrop>false</ScaleCrop>
  <HeadingPairs>
    <vt:vector size="8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3" baseType="lpstr">
      <vt:lpstr>Arial</vt:lpstr>
      <vt:lpstr>Calibri</vt:lpstr>
      <vt:lpstr>Calisto MT</vt:lpstr>
      <vt:lpstr>Century Gothic</vt:lpstr>
      <vt:lpstr>Wingdings</vt:lpstr>
      <vt:lpstr>Génesis</vt:lpstr>
      <vt:lpstr>Imagen</vt:lpstr>
      <vt:lpstr>MARTINEZ GONZALEZ  CONSULTORES S.A.S</vt:lpstr>
      <vt:lpstr>Quienes somos </vt:lpstr>
      <vt:lpstr>Presentación de PowerPoint</vt:lpstr>
      <vt:lpstr>MISIÓN </vt:lpstr>
      <vt:lpstr>Bienestar y Seguridad  Servicios de Seguridad y Salud en el Trabajo (SG-SST)</vt:lpstr>
      <vt:lpstr>Presentación de PowerPoint</vt:lpstr>
      <vt:lpstr>Presentación de PowerPoint</vt:lpstr>
      <vt:lpstr>SEGURIDAD Y SALUD EN EL TRABAJO</vt:lpstr>
      <vt:lpstr>GESTION AMBIENTAL</vt:lpstr>
      <vt:lpstr>Capacitación y Entrenamiento Especializado</vt:lpstr>
      <vt:lpstr>Presentación de PowerPoint</vt:lpstr>
      <vt:lpstr>Mediciones Higiénicas Ocupacionales</vt:lpstr>
      <vt:lpstr>Presentación de PowerPoint</vt:lpstr>
      <vt:lpstr>NUESTROS CLIENTES</vt:lpstr>
      <vt:lpstr>NUESTROS CLIENTES</vt:lpstr>
      <vt:lpstr>CONTACTENOS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usuario</dc:creator>
  <cp:lastModifiedBy>GCGMG</cp:lastModifiedBy>
  <cp:revision>94</cp:revision>
  <cp:lastPrinted>2017-02-08T00:28:04Z</cp:lastPrinted>
  <dcterms:created xsi:type="dcterms:W3CDTF">2016-08-30T04:41:12Z</dcterms:created>
  <dcterms:modified xsi:type="dcterms:W3CDTF">2026-06-26T23:12:10Z</dcterms:modified>
</cp:coreProperties>
</file>